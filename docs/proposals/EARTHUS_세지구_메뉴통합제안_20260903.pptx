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앱의 메뉴를 코드에서 직접 세어 비교했습니다. 숫자는 모두 실측값입니다.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v2가 레이어 수로는 가장 큽니다. v1은 별도 화면이 많아 메뉴 밖에도 기능이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겹치는 23개가 통합의 대상이고, 여섯 개는 셋 다 있으니 표현 규칙을 세울 기준입니다.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어긋남이 메뉴가 커질수록 비용이 됩니다. 축을 지키거나, 축을 바꾸거나 둘 중 하나입니다.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두 구현을 합치는 방향은 이미 코드에 적혀 있습니다. LLM 이 라우터를 부르고 문장화합니다.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기능을 앱마다 다르게 두면 유지가 안 됩니다. 자료는 한 벌, 표현만 셋입니다.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v2 의 93개는 7씬으로도 깊습니다. 사람이 하려는 일로 묶으면 찾는 시간이 줄어듭니다.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표현이 달라도 값이 다르면 안 됩니다. 그게 이 규칙의 핵심입니다.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배지 어휘는 이미 v2 에 있습니다. v1·v3 로 넓히면 세 지구가 같은 말로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1~3 은 코드 작업, 4~5 는 제품 결정이 먼저 필요합니다.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원칙 한 줄로 끝냅니다.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822960"/>
            <a:ext cx="6035040" cy="6035040"/>
          </a:xfrm>
          <a:prstGeom prst="ellipse">
            <a:avLst/>
          </a:prstGeom>
          <a:solidFill>
            <a:srgbClr val="1B2942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32520" y="45720"/>
            <a:ext cx="4297680" cy="4297680"/>
          </a:xfrm>
          <a:prstGeom prst="ellipse">
            <a:avLst/>
          </a:prstGeom>
          <a:solidFill>
            <a:srgbClr val="141F33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17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500" kern="0" dirty="0">
                <a:solidFill>
                  <a:srgbClr val="4A90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EARTHUS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04672" y="1920240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8EE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지구, 하나의 엔진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7180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9D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 구조를 실제로 세어 보고, 같은 기능이 어떻게 갈라졌는지 짚고,</a:t>
            </a:r>
            <a:endParaRPr lang="en-US" sz="15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9D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문법으로 다시 세울지 제안합니다.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3434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0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6177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EE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44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532180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F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레이어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3108960" y="43434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0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108960" y="46177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EE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93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3108960" y="532180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F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레이어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394960" y="43434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0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394960" y="46177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EE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4400" dirty="0"/>
          </a:p>
        </p:txBody>
      </p:sp>
      <p:sp>
        <p:nvSpPr>
          <p:cNvPr id="15" name="Text 13"/>
          <p:cNvSpPr txBox="1"/>
          <p:nvPr/>
        </p:nvSpPr>
        <p:spPr>
          <a:xfrm>
            <a:off x="5394960" y="532180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F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버튼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6035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F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2026-09-03 · 코드에서 직접 센 값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A90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현황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EE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지구는 지금 이렇게 서 있다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4475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9D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자료 저장소(S3 캐시)를 쓰지만, 메뉴는 각자 자랐습니다.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3520440" cy="3566160"/>
          </a:xfrm>
          <a:prstGeom prst="roundRect">
            <a:avLst>
              <a:gd name="adj" fmla="val 3117"/>
            </a:avLst>
          </a:prstGeom>
          <a:solidFill>
            <a:srgbClr val="141F33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2377440"/>
            <a:ext cx="384048" cy="384048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417320" y="23774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EARTHUS  v1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263347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F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earthus.net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3063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A90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생활과 안전의 지구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841248" y="3520440"/>
            <a:ext cx="2971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9D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레이어 44개 · 10묶음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9D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별도 화면 15개 (해양·연구·관측소…)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9D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계정·구독·관리자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15968" y="2057400"/>
            <a:ext cx="3520440" cy="3566160"/>
          </a:xfrm>
          <a:prstGeom prst="roundRect">
            <a:avLst>
              <a:gd name="adj" fmla="val 3117"/>
            </a:avLst>
          </a:prstGeom>
          <a:solidFill>
            <a:srgbClr val="141F33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08576" y="2377440"/>
            <a:ext cx="384048" cy="384048"/>
          </a:xfrm>
          <a:prstGeom prst="ellipse">
            <a:avLst/>
          </a:prstGeom>
          <a:solidFill>
            <a:srgbClr val="7FB7F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184648" y="23774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Intelligence  v2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184648" y="263347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F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/v2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608576" y="3063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FB7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분석과 시간축의 지구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4608576" y="3520440"/>
            <a:ext cx="2971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9D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레이어 93개 · 7씬 (준비중 4)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9D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5일 예보 · 진리등급 배지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9D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문답 · 3D 지형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083296" y="2057400"/>
            <a:ext cx="3520440" cy="3566160"/>
          </a:xfrm>
          <a:prstGeom prst="roundRect">
            <a:avLst>
              <a:gd name="adj" fmla="val 3117"/>
            </a:avLst>
          </a:prstGeom>
          <a:solidFill>
            <a:srgbClr val="141F33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375904" y="2377440"/>
            <a:ext cx="384048" cy="384048"/>
          </a:xfrm>
          <a:prstGeom prst="ellipse">
            <a:avLst/>
          </a:prstGeom>
          <a:solidFill>
            <a:srgbClr val="F0A88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951976" y="23774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WONDER  v3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951976" y="263347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F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/v3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8375904" y="3063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A8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아이의 지구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8375904" y="3520440"/>
            <a:ext cx="2971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9D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버튼 12개 · 한 화면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9D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공룡 · 판게아 · 충돌구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9D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4~9세, 읽는 글 최소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58978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F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상단 도구바는 오늘 세 지구에 같은 자리로 통합했습니다.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A90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겹침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EE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겹치고 무엇이 그 앱에만 있나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4475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9D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 가 달라도 같은 것을 세려면 개념으로 이어야 합니다. 손으로 이어 센 값입니다.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2606040" cy="1691640"/>
          </a:xfrm>
          <a:prstGeom prst="roundRect">
            <a:avLst>
              <a:gd name="adj" fmla="val 6486"/>
            </a:avLst>
          </a:prstGeom>
          <a:solidFill>
            <a:srgbClr val="141F33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2860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4A90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</a:t>
            </a:r>
            <a:endParaRPr lang="en-US" sz="4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12724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D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v1 ∩ v2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D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개념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383280" y="2103120"/>
            <a:ext cx="2606040" cy="1691640"/>
          </a:xfrm>
          <a:prstGeom prst="roundRect">
            <a:avLst>
              <a:gd name="adj" fmla="val 6486"/>
            </a:avLst>
          </a:prstGeom>
          <a:solidFill>
            <a:srgbClr val="141F33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11880" y="22860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7FB7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4600" dirty="0"/>
          </a:p>
        </p:txBody>
      </p:sp>
      <p:sp>
        <p:nvSpPr>
          <p:cNvPr id="10" name="Text 8"/>
          <p:cNvSpPr txBox="1"/>
          <p:nvPr/>
        </p:nvSpPr>
        <p:spPr>
          <a:xfrm>
            <a:off x="3611880" y="312724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D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지구 모두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D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있는 개념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217920" y="2103120"/>
            <a:ext cx="2606040" cy="1691640"/>
          </a:xfrm>
          <a:prstGeom prst="roundRect">
            <a:avLst>
              <a:gd name="adj" fmla="val 6486"/>
            </a:avLst>
          </a:prstGeom>
          <a:solidFill>
            <a:srgbClr val="141F33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46520" y="22860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0A8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</a:t>
            </a:r>
            <a:endParaRPr lang="en-US" sz="460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312724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D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v1 에만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9052560" y="2103120"/>
            <a:ext cx="2606040" cy="1691640"/>
          </a:xfrm>
          <a:prstGeom prst="roundRect">
            <a:avLst>
              <a:gd name="adj" fmla="val 6486"/>
            </a:avLst>
          </a:prstGeom>
          <a:solidFill>
            <a:srgbClr val="141F33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281160" y="22860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8FD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69</a:t>
            </a:r>
            <a:endParaRPr lang="en-US" sz="4600" dirty="0"/>
          </a:p>
        </p:txBody>
      </p:sp>
      <p:sp>
        <p:nvSpPr>
          <p:cNvPr id="16" name="Text 14"/>
          <p:cNvSpPr txBox="1"/>
          <p:nvPr/>
        </p:nvSpPr>
        <p:spPr>
          <a:xfrm>
            <a:off x="9281160" y="312724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D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v2 에만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4069080"/>
            <a:ext cx="5440680" cy="1783080"/>
          </a:xfrm>
          <a:prstGeom prst="roundRect">
            <a:avLst>
              <a:gd name="adj" fmla="val 6154"/>
            </a:avLst>
          </a:prstGeom>
          <a:solidFill>
            <a:srgbClr val="1B2942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427939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FB7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지구 모두 있는 여섯 가지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461772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E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구름 · 비 · 기온 · 바람 · 지진 · 낙뢰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512064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D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여기가 «같은 자료, 다른 문법» 을 세울 자리입니다.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172200" y="4069080"/>
            <a:ext cx="5468112" cy="1783080"/>
          </a:xfrm>
          <a:prstGeom prst="roundRect">
            <a:avLst>
              <a:gd name="adj" fmla="val 6154"/>
            </a:avLst>
          </a:prstGeom>
          <a:solidFill>
            <a:srgbClr val="141F33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46520" y="427939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A8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앱에만 있는 것의 성격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46520" y="46268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FB7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v1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949440" y="4626864"/>
            <a:ext cx="4526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수증기 통로 · 최고/최저기온 · 미세먼지 · 안개 · 토양수분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6446520" y="50109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FB7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v2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6949440" y="5010912"/>
            <a:ext cx="4526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3D 지형 · 5일 예보 · 산림감소 · 인구 타워 · Argo · 우주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6446520" y="5394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FB7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v3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6949440" y="5394960"/>
            <a:ext cx="4526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공룡 발자국 · 옛 대륙 · 운석 충돌구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A90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진단 ①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EE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전환기는 시간축을 약속하는데, 내용이 지키지 않는다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11091672" cy="1371600"/>
          </a:xfrm>
          <a:prstGeom prst="roundRect">
            <a:avLst>
              <a:gd name="adj" fmla="val 8000"/>
            </a:avLst>
          </a:prstGeom>
          <a:solidFill>
            <a:srgbClr val="1B2942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48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0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js/earth-switch.js 가 적어 둔 약속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8716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E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EARTHUS  ·  현재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7432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지구에서 무슨 일이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26280" y="248716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E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Intelligence  ·  미래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27432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앞으로 무슨 일이 — 예보와 시나리오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183880" y="248716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E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WONDER  ·  과거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183880" y="27432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여기까지 어떻게 왔나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36118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A8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그런데 실제로는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4041648"/>
            <a:ext cx="11091672" cy="548640"/>
          </a:xfrm>
          <a:prstGeom prst="roundRect">
            <a:avLst>
              <a:gd name="adj" fmla="val 20000"/>
            </a:avLst>
          </a:prstGeom>
          <a:solidFill>
            <a:srgbClr val="141F33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68680" y="4160520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E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«미래» 인 v2 에 실황이 잔뜩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4160520"/>
            <a:ext cx="6492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구름 실황 · 지진 실황 · 바람 관측 3천 개소 · 레이더 강수 · 기입 모형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4700016"/>
            <a:ext cx="11091672" cy="548640"/>
          </a:xfrm>
          <a:prstGeom prst="roundRect">
            <a:avLst>
              <a:gd name="adj" fmla="val 20000"/>
            </a:avLst>
          </a:prstGeom>
          <a:solidFill>
            <a:srgbClr val="141F33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8680" y="4818888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E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«현재» 인 v1 에 예보가 있다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4818888"/>
            <a:ext cx="6492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예보 바람 · 최고/최저기온 · 영국 예보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5358384"/>
            <a:ext cx="11091672" cy="548640"/>
          </a:xfrm>
          <a:prstGeom prst="roundRect">
            <a:avLst>
              <a:gd name="adj" fmla="val 20000"/>
            </a:avLst>
          </a:prstGeom>
          <a:solidFill>
            <a:srgbClr val="141F33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68680" y="5477256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E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«과거» 인 v3 에 현재가 대부분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892040" y="5477256"/>
            <a:ext cx="6492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12개 중 공룡·판게아·충돌구 3개만 과거, 나머지는 지금 날씨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614476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F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사용자는 «어디에 뭐가 있는지» 를 축이 아니라 기억으로 찾고 있습니다.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A90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진단 ②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EE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기능이 서로 모른 채 두 갈래로 자랐다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75104"/>
            <a:ext cx="11091672" cy="914400"/>
          </a:xfrm>
          <a:prstGeom prst="roundRect">
            <a:avLst>
              <a:gd name="adj" fmla="val 12000"/>
            </a:avLst>
          </a:prstGeom>
          <a:solidFill>
            <a:srgbClr val="141F33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1031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B7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물어보기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2286000" y="209397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8EE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v1 · 규칙 기반 라우터 856줄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5669280" y="2093976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8EE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v2 · LLM(제미니) + 승인된 3D 도구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2286000" y="2432304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F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v1 은 구조적으로 환각이 불가능하고, v2 는 문장으로 설명하고 장면을 옮긴다. 둘 다 옳다.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962656"/>
            <a:ext cx="11091672" cy="914400"/>
          </a:xfrm>
          <a:prstGeom prst="roundRect">
            <a:avLst>
              <a:gd name="adj" fmla="val 12000"/>
            </a:avLst>
          </a:prstGeom>
          <a:solidFill>
            <a:srgbClr val="141F33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09067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B7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태풍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286000" y="30815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8EE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v1 · 「태풍」 하나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5669280" y="308152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8EE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v2 · 공식트랙 / 앙상블 / 유사경로 / 사건 / 시뮬 다섯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2286000" y="3419856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F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사건을 한쪽은 한 줄로, 한쪽은 다섯 줄로 낸다.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950208"/>
            <a:ext cx="11091672" cy="914400"/>
          </a:xfrm>
          <a:prstGeom prst="roundRect">
            <a:avLst>
              <a:gd name="adj" fmla="val 12000"/>
            </a:avLst>
          </a:prstGeom>
          <a:solidFill>
            <a:srgbClr val="141F33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078224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B7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2286000" y="40690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8EE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v1 · 관광 밀도 · 명소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5669280" y="406908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8EE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v2 · 서울 실시간 / 도시 타워 / 인구 조각 / 국가 인구 / 지금×거주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2286000" y="440740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F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관측(지금 사람)과 추정(거주 인구)이 이름만으로는 안 갈린다.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4937760"/>
            <a:ext cx="11091672" cy="914400"/>
          </a:xfrm>
          <a:prstGeom prst="roundRect">
            <a:avLst>
              <a:gd name="adj" fmla="val 12000"/>
            </a:avLst>
          </a:prstGeom>
          <a:solidFill>
            <a:srgbClr val="141F33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" y="5065776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B7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일기도 기호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2286000" y="505663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8EE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v1 · 오늘 추가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5669280" y="505663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8EE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v2 · 오늘 추가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2286000" y="53949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F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규칙으로 두 곳에 만들었다 — 이게 유지되려면 규칙이 한 곳에 있어야 한다.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66928" y="59893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i="1" dirty="0">
                <a:solidFill>
                  <a:srgbClr val="F0A8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v1 의 라우터 주석이 이미 답을 적어 두었습니다 —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i="1" dirty="0">
                <a:solidFill>
                  <a:srgbClr val="F0A8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«나중에 LLM 을 붙이는 날, LLM 이 하는 일은 질문 이해 → 이 라우터 호출 → 문장화다»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A90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 ①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EE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하나의 엔진, 세 문법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4475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9D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자료와 계산은 한 벌만 둡니다. 다른 것은 «누구에게 어떻게 보이는가» 뿐입니다.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11091672" cy="914400"/>
          </a:xfrm>
          <a:prstGeom prst="roundRect">
            <a:avLst>
              <a:gd name="adj" fmla="val 12000"/>
            </a:avLst>
          </a:prstGeom>
          <a:solidFill>
            <a:srgbClr val="1B2942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286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90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층 — 한 벌만 둔다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587752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수집(Lambda) · S3 캐시 · 진리등급 어휘 · 질문 라우터 · 공통 상단 도구바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3246120"/>
            <a:ext cx="3520440" cy="2514600"/>
          </a:xfrm>
          <a:prstGeom prst="roundRect">
            <a:avLst>
              <a:gd name="adj" fmla="val 4364"/>
            </a:avLst>
          </a:prstGeom>
          <a:solidFill>
            <a:srgbClr val="141F33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474720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4A90D9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347472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12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v1 · 지금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8862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F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사람: 오늘을 사는 어른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25196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8EE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질문에 바로 답한다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8EE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숫자와 경보가 먼저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8EE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화면에 결론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315968" y="3246120"/>
            <a:ext cx="3520440" cy="2514600"/>
          </a:xfrm>
          <a:prstGeom prst="roundRect">
            <a:avLst>
              <a:gd name="adj" fmla="val 4364"/>
            </a:avLst>
          </a:prstGeom>
          <a:solidFill>
            <a:srgbClr val="141F33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90288" y="3474720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7FB7F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90288" y="347472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12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v2 · 깊이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590288" y="38862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F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사람: 왜인지 알고 싶은 사람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590288" y="425196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8EE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시간축과 근거가 먼저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8EE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진리등급을 항상 표기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8EE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층을 겹쳐 스스로 판단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083296" y="3246120"/>
            <a:ext cx="3520440" cy="2514600"/>
          </a:xfrm>
          <a:prstGeom prst="roundRect">
            <a:avLst>
              <a:gd name="adj" fmla="val 4364"/>
            </a:avLst>
          </a:prstGeom>
          <a:solidFill>
            <a:srgbClr val="141F33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57616" y="3474720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F0A88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357616" y="347472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12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v3 · 경이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8357616" y="38862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F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사람: 4~9세 아이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357616" y="425196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8EE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글자 대신 그림과 움직임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8EE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단추 하나에 개념 하나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8EE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«진짜 지금» 임을 말해준다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5989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«같은 엔진, 다른 문법» — 기능을 나누는 것이 아니라 말투를 나눕니다.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A90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 ②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EE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최적 메뉴 구성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4475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9D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한국이 언제나 먼저입니다. 공통 여섯은 세 곳 모두, 나머지는 성격에 맞는 곳 하나에만 둡니다.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3520440" cy="3703320"/>
          </a:xfrm>
          <a:prstGeom prst="roundRect">
            <a:avLst>
              <a:gd name="adj" fmla="val 3117"/>
            </a:avLst>
          </a:prstGeom>
          <a:solidFill>
            <a:srgbClr val="141F33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377440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4A90D9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377440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v1 · 지금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852928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A90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09067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날씨 · 대기질 · 특보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42900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A90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66674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태풍 · 지진 · 산불 · 쓰나미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00507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A90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주변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424281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관측소 · 부이 · 내 위치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581144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A90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81888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항공편 · 선박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157216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A90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묻기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53949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→ 지구가 답한다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315968" y="2148840"/>
            <a:ext cx="3520440" cy="3703320"/>
          </a:xfrm>
          <a:prstGeom prst="roundRect">
            <a:avLst>
              <a:gd name="adj" fmla="val 3117"/>
            </a:avLst>
          </a:prstGeom>
          <a:solidFill>
            <a:srgbClr val="141F33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90288" y="2377440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7FB7F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90288" y="2377440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v2 · 깊이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4590288" y="2852928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FB7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4590288" y="309067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5일 예보 · 산림감소 · 지진 25년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4590288" y="342900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FB7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땅과 바다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590288" y="366674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3D 지형 · 해저 · 해수면 전망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90288" y="400507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FB7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4590288" y="424281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인구 · 도시 타워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4590288" y="4581144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FB7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우주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4590288" y="481888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위성 · 태양 · 은하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4590288" y="5157216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FB7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4590288" y="53949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진리등급 · 사건 방 · 묻기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083296" y="2148840"/>
            <a:ext cx="3520440" cy="3703320"/>
          </a:xfrm>
          <a:prstGeom prst="roundRect">
            <a:avLst>
              <a:gd name="adj" fmla="val 3117"/>
            </a:avLst>
          </a:prstGeom>
          <a:solidFill>
            <a:srgbClr val="141F33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357616" y="2377440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F0A882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357616" y="2377440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v3 · 경이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8357616" y="2852928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0A8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지구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8357616" y="309067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구름 · 비 · 번개 · 기온 · 바람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8357616" y="342900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0A8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땅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8357616" y="366674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산맥 · 강 · 지진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8357616" y="400507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0A8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아주 옛날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8357616" y="424281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공룡 · 옛 대륙 · 충돌구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8357616" y="4581144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0A8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8357616" y="481888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위치 · 이게 뭐야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8357616" y="5157216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0A8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</a:t>
            </a:r>
            <a:endParaRPr lang="en-US" sz="1150" dirty="0"/>
          </a:p>
        </p:txBody>
      </p:sp>
      <p:sp>
        <p:nvSpPr>
          <p:cNvPr id="43" name="Text 41"/>
          <p:cNvSpPr txBox="1"/>
          <p:nvPr/>
        </p:nvSpPr>
        <p:spPr>
          <a:xfrm>
            <a:off x="8357616" y="53949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설정은 넣을 것이 생기면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566928" y="603504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F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묶음 이름을 자료 이름이 아니라 «사람이 하려는 일» 로 지었습니다 — 지금 / 안전 / 시간 / 근거.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A90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 ③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EE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자료, 다른 문법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4475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9D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지구 모두 있는 여섯 가지를 어떻게 다르게 낼지 규칙으로 못박습니다.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11091672" cy="3886200"/>
          </a:xfrm>
          <a:prstGeom prst="roundRect">
            <a:avLst>
              <a:gd name="adj" fmla="val 2824"/>
            </a:avLst>
          </a:prstGeom>
          <a:solidFill>
            <a:srgbClr val="141F33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2402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F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2880360" y="22402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0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v1 · 지금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532120" y="22402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FB7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v2 · 깊이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281160" y="22402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A8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v3 · 경이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85800" y="2615184"/>
            <a:ext cx="10789920" cy="475488"/>
          </a:xfrm>
          <a:prstGeom prst="rect">
            <a:avLst/>
          </a:prstGeom>
          <a:solidFill>
            <a:srgbClr val="1B294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68680" y="267004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E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구름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880360" y="267004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위성 영상 그대로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532120" y="267004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두께 + 운정 높이로 세운 3D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281160" y="267004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뭉게구름이 흘러간다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32004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E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2880360" y="32004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레이더 강수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532120" y="32004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색면 + 번개 표식 · 5일 재생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9281160" y="3200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물방울이 떨어진다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85800" y="3675888"/>
            <a:ext cx="10789920" cy="475488"/>
          </a:xfrm>
          <a:prstGeom prst="rect">
            <a:avLst/>
          </a:prstGeom>
          <a:solidFill>
            <a:srgbClr val="1B2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68680" y="373075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E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기온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880360" y="373075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몇 도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532120" y="373075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평년 대비 편차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281160" y="373075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덥다 · 춥다 두 색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868680" y="426110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E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바람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2880360" y="426110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관측소 실측 화살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532120" y="426110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입자 흐름 + 깃 기호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9281160" y="4261104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바람이 분다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85800" y="4736592"/>
            <a:ext cx="10789920" cy="475488"/>
          </a:xfrm>
          <a:prstGeom prst="rect">
            <a:avLst/>
          </a:prstGeom>
          <a:solidFill>
            <a:srgbClr val="1B294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68680" y="4791456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E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지진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2880360" y="479145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방금 난 것 목록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532120" y="479145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25년 이력 · 깊이 · 판 경계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9281160" y="4791456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땅이 흔들린 곳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68680" y="532180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E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낙뢰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2880360" y="532180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60분 위치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5532120" y="532180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뇌우 표식 + 비 색면 위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9281160" y="532180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번쩍!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566928" y="612648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F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값은 한 곳에서 오고, 말투만 셋입니다. 어느 지구에서 봐도 수는 같아야 합니다.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A90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 ④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EE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디자인 — 세 지구가 같은 규칙을 쓴다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11091672" cy="1234440"/>
          </a:xfrm>
          <a:prstGeom prst="roundRect">
            <a:avLst>
              <a:gd name="adj" fmla="val 8889"/>
            </a:avLst>
          </a:prstGeom>
          <a:solidFill>
            <a:srgbClr val="1B2942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762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90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한 줄 상단바 — 오늘 통합 완료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868680" y="2542032"/>
            <a:ext cx="883310" cy="347472"/>
          </a:xfrm>
          <a:prstGeom prst="roundRect">
            <a:avLst>
              <a:gd name="adj" fmla="val 50000"/>
            </a:avLst>
          </a:prstGeom>
          <a:solidFill>
            <a:srgbClr val="141F33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542032"/>
            <a:ext cx="88331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D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EARTHUS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825142" y="2542032"/>
            <a:ext cx="128564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825142" y="2542032"/>
            <a:ext cx="128564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2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Intelligence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183941" y="2542032"/>
            <a:ext cx="802843" cy="347472"/>
          </a:xfrm>
          <a:prstGeom prst="roundRect">
            <a:avLst>
              <a:gd name="adj" fmla="val 50000"/>
            </a:avLst>
          </a:prstGeom>
          <a:solidFill>
            <a:srgbClr val="141F33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183941" y="2542032"/>
            <a:ext cx="80284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D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WONDER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288536" y="2542032"/>
            <a:ext cx="918058" cy="347472"/>
          </a:xfrm>
          <a:prstGeom prst="roundRect">
            <a:avLst>
              <a:gd name="adj" fmla="val 50000"/>
            </a:avLst>
          </a:prstGeom>
          <a:solidFill>
            <a:srgbClr val="141F33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88536" y="2542032"/>
            <a:ext cx="9180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D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?  기능 설명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279746" y="2542032"/>
            <a:ext cx="676656" cy="347472"/>
          </a:xfrm>
          <a:prstGeom prst="roundRect">
            <a:avLst>
              <a:gd name="adj" fmla="val 50000"/>
            </a:avLst>
          </a:prstGeom>
          <a:solidFill>
            <a:srgbClr val="141F33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279746" y="2542032"/>
            <a:ext cx="676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D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⚙  설정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29554" y="2542032"/>
            <a:ext cx="757123" cy="347472"/>
          </a:xfrm>
          <a:prstGeom prst="roundRect">
            <a:avLst>
              <a:gd name="adj" fmla="val 50000"/>
            </a:avLst>
          </a:prstGeom>
          <a:solidFill>
            <a:srgbClr val="141F33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029554" y="2542032"/>
            <a:ext cx="75712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D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 로그인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7042709" y="2542032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F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지구 어디서나 같은 자리. 앱마다 담기는 것만 다릅니다.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429000"/>
            <a:ext cx="5486400" cy="2377440"/>
          </a:xfrm>
          <a:prstGeom prst="roundRect">
            <a:avLst>
              <a:gd name="adj" fmla="val 4615"/>
            </a:avLst>
          </a:prstGeom>
          <a:solidFill>
            <a:srgbClr val="141F33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68680" y="36118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90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진리등급 배지 — 어휘를 하나로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68680" y="3977640"/>
            <a:ext cx="868680" cy="256032"/>
          </a:xfrm>
          <a:prstGeom prst="roundRect">
            <a:avLst>
              <a:gd name="adj" fmla="val 50000"/>
            </a:avLst>
          </a:prstGeom>
          <a:solidFill>
            <a:srgbClr val="8FD3A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68680" y="397764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12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관측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874520" y="397764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기관이 실제로 잰 값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68680" y="4288536"/>
            <a:ext cx="868680" cy="256032"/>
          </a:xfrm>
          <a:prstGeom prst="roundRect">
            <a:avLst>
              <a:gd name="adj" fmla="val 50000"/>
            </a:avLst>
          </a:prstGeom>
          <a:solidFill>
            <a:srgbClr val="7FB7F5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68680" y="4288536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12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공식예보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874520" y="428853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기관이 발표한 예보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68680" y="4599432"/>
            <a:ext cx="868680" cy="256032"/>
          </a:xfrm>
          <a:prstGeom prst="roundRect">
            <a:avLst>
              <a:gd name="adj" fmla="val 50000"/>
            </a:avLst>
          </a:prstGeom>
          <a:solidFill>
            <a:srgbClr val="F2C14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68680" y="45994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12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특보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874520" y="459943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경보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68680" y="4910328"/>
            <a:ext cx="868680" cy="256032"/>
          </a:xfrm>
          <a:prstGeom prst="roundRect">
            <a:avLst>
              <a:gd name="adj" fmla="val 50000"/>
            </a:avLst>
          </a:prstGeom>
          <a:solidFill>
            <a:srgbClr val="B08BE0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68680" y="4910328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12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1874520" y="491032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제공자 수치모델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868680" y="5221224"/>
            <a:ext cx="868680" cy="256032"/>
          </a:xfrm>
          <a:prstGeom prst="roundRect">
            <a:avLst>
              <a:gd name="adj" fmla="val 50000"/>
            </a:avLst>
          </a:prstGeom>
          <a:solidFill>
            <a:srgbClr val="F0A88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68680" y="522122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12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자체분석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1874520" y="522122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EARTHUS 가 유도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868680" y="5532120"/>
            <a:ext cx="868680" cy="256032"/>
          </a:xfrm>
          <a:prstGeom prst="roundRect">
            <a:avLst>
              <a:gd name="adj" fmla="val 50000"/>
            </a:avLst>
          </a:prstGeom>
          <a:solidFill>
            <a:srgbClr val="6B7F99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868680" y="553212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12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시뮬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1874520" y="553212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가정 기반 · 예보 아님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263640" y="3429000"/>
            <a:ext cx="5376672" cy="2377440"/>
          </a:xfrm>
          <a:prstGeom prst="roundRect">
            <a:avLst>
              <a:gd name="adj" fmla="val 4615"/>
            </a:avLst>
          </a:prstGeom>
          <a:solidFill>
            <a:srgbClr val="141F33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583680" y="36118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90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세 지구가 함께 지키는 것</a:t>
            </a:r>
            <a:endParaRPr lang="en-US" sz="1250" dirty="0"/>
          </a:p>
        </p:txBody>
      </p:sp>
      <p:sp>
        <p:nvSpPr>
          <p:cNvPr id="41" name="Text 39"/>
          <p:cNvSpPr txBox="1"/>
          <p:nvPr/>
        </p:nvSpPr>
        <p:spPr>
          <a:xfrm>
            <a:off x="6583680" y="397764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8EE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값은 0 이 아니라 «비운다»</a:t>
            </a:r>
            <a:endParaRPr lang="en-US" sz="1200" dirty="0"/>
          </a:p>
          <a:p>
            <a:pPr marL="342900" indent="-3429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8EE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관측과 예측을 같은 밝기로 그리지 않는다</a:t>
            </a:r>
            <a:endParaRPr lang="en-US" sz="1200" dirty="0"/>
          </a:p>
          <a:p>
            <a:pPr marL="342900" indent="-3429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8EE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변환한 것은 변환했다고 카드에 적는다</a:t>
            </a:r>
            <a:endParaRPr lang="en-US" sz="1200" dirty="0"/>
          </a:p>
          <a:p>
            <a:pPr marL="342900" indent="-3429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8EE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한국이 언제나 먼저 — 메뉴·목록·도시</a:t>
            </a:r>
            <a:endParaRPr lang="en-US" sz="1200" dirty="0"/>
          </a:p>
          <a:p>
            <a:pPr marL="342900" indent="-3429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8EE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어두운 배경 · 값에만 색을 쓴다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A90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EE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무엇부터 하면 되는가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4475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9D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값싼 것부터, 그리고 되돌리기 어려운 것은 나중에.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11091672" cy="676656"/>
          </a:xfrm>
          <a:prstGeom prst="roundRect">
            <a:avLst>
              <a:gd name="adj" fmla="val 16216"/>
            </a:avLst>
          </a:prstGeom>
          <a:solidFill>
            <a:srgbClr val="141F33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2249424"/>
            <a:ext cx="384048" cy="384048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04672" y="2249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2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18541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E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묻기를 하나로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459736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90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엔진 통합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114800" y="22860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v1 라우터를 공용으로 올리고, v2 LLM 이 그 라우터를 부르게 한다. v1 주석이 예언한 구조 그대로.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11091672" cy="676656"/>
          </a:xfrm>
          <a:prstGeom prst="roundRect">
            <a:avLst>
              <a:gd name="adj" fmla="val 16216"/>
            </a:avLst>
          </a:prstGeom>
          <a:solidFill>
            <a:srgbClr val="141F33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04672" y="3044952"/>
            <a:ext cx="384048" cy="384048"/>
          </a:xfrm>
          <a:prstGeom prst="ellipse">
            <a:avLst/>
          </a:prstGeom>
          <a:solidFill>
            <a:srgbClr val="7FB7F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04672" y="3044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2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298094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E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진리등급 어휘 통일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3255264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B7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표현 통일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114800" y="308152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v2 의 배지 어휘를 v1·v3 로. 같은 자료가 세 곳에서 같은 이름으로 불린다.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3694176"/>
            <a:ext cx="11091672" cy="676656"/>
          </a:xfrm>
          <a:prstGeom prst="roundRect">
            <a:avLst>
              <a:gd name="adj" fmla="val 16216"/>
            </a:avLst>
          </a:prstGeom>
          <a:solidFill>
            <a:srgbClr val="141F33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" y="3840480"/>
            <a:ext cx="384048" cy="384048"/>
          </a:xfrm>
          <a:prstGeom prst="ellipse">
            <a:avLst/>
          </a:prstGeom>
          <a:solidFill>
            <a:srgbClr val="F0A88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04672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2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371600" y="377647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E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여섯의 문법 확정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405079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A8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문법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4114800" y="3877056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구름·비·기온·바람·지진·낙뢰를 세 문법으로 못박고 v3 를 그 기준으로 채운다.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48640" y="4489704"/>
            <a:ext cx="11091672" cy="676656"/>
          </a:xfrm>
          <a:prstGeom prst="roundRect">
            <a:avLst>
              <a:gd name="adj" fmla="val 16216"/>
            </a:avLst>
          </a:prstGeom>
          <a:solidFill>
            <a:srgbClr val="141F33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4672" y="4636008"/>
            <a:ext cx="384048" cy="384048"/>
          </a:xfrm>
          <a:prstGeom prst="ellipse">
            <a:avLst/>
          </a:prstGeom>
          <a:solidFill>
            <a:srgbClr val="8FD3A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04672" y="46360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2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371600" y="45720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E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메뉴를 «하려는 일» 로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1371600" y="484632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D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정보구조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4114800" y="46725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이름 대신 지금·안전·시간·근거로 다시 묶는다. 한국이 먼저.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48640" y="5285232"/>
            <a:ext cx="11091672" cy="676656"/>
          </a:xfrm>
          <a:prstGeom prst="roundRect">
            <a:avLst>
              <a:gd name="adj" fmla="val 16216"/>
            </a:avLst>
          </a:prstGeom>
          <a:solidFill>
            <a:srgbClr val="141F33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4672" y="5431536"/>
            <a:ext cx="384048" cy="384048"/>
          </a:xfrm>
          <a:prstGeom prst="ellipse">
            <a:avLst/>
          </a:prstGeom>
          <a:solidFill>
            <a:srgbClr val="B08BE0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04672" y="5431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2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1371600" y="536752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E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축을 지키거나 바꾸거나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1371600" y="5641848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8B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필요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4114800" y="546811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현재/미래/과거를 지킬지, 지금·깊이·경이로 바꿀지 정한다. 이건 제품 결정.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1828800"/>
            <a:ext cx="6766560" cy="6766560"/>
          </a:xfrm>
          <a:prstGeom prst="ellipse">
            <a:avLst/>
          </a:prstGeom>
          <a:solidFill>
            <a:srgbClr val="141F33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0" y="21488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4A90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줄로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074920" y="260604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3800" b="1" dirty="0">
                <a:solidFill>
                  <a:srgbClr val="E8EE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기능을 나누지 말고</a:t>
            </a:r>
            <a:endParaRPr lang="en-US" sz="38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800" b="1" dirty="0">
                <a:solidFill>
                  <a:srgbClr val="E8EE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말투를 나눈다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5102352" y="4206240"/>
            <a:ext cx="6492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9D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자료와 계산은 한 벌. 세 지구는 같은 값을 다른 말투로 낸다.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9D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지구에서 봐도 수는 같아야 하고, 없는 값은 어디서도 채우지 않는다.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102352" y="57607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F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EARTHUS · 2026-09-03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EARTHUS 세 지구 — 메뉴 구조 분석과 통합 제안</dc:title>
  <dc:subject>PptxGenJS Presentation</dc:subject>
  <dc:creator>EARTHUS</dc:creator>
  <cp:lastModifiedBy>EARTHUS</cp:lastModifiedBy>
  <cp:revision>1</cp:revision>
  <dcterms:created xsi:type="dcterms:W3CDTF">2026-09-03T10:41:59Z</dcterms:created>
  <dcterms:modified xsi:type="dcterms:W3CDTF">2026-09-03T10:41:59Z</dcterms:modified>
</cp:coreProperties>
</file>