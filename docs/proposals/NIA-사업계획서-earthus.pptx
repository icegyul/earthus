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64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01-typhoon-glob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0610" y="0"/>
            <a:ext cx="489108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6675120" cy="6858000"/>
          </a:xfrm>
          <a:prstGeom prst="rect">
            <a:avLst/>
          </a:prstGeom>
          <a:solidFill>
            <a:srgbClr val="0F26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arthus-lockup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554480"/>
            <a:ext cx="2651760" cy="58213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2548094"/>
            <a:ext cx="548640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0000"/>
              </a:lnSpc>
              <a:spcBef>
                <a:spcPts val="0"/>
              </a:spcBef>
              <a:spcAft>
                <a:spcPts val="1600"/>
              </a:spcAft>
            </a:pPr>
            <a:r>
              <a:rPr sz="1150" b="1">
                <a:solidFill>
                  <a:srgbClr val="9FC1E0"/>
                </a:solidFill>
                <a:latin typeface="Calibri"/>
              </a:rPr>
              <a:t>공공데이터 활용기업 AI 연계 맞춤형 성장 지원사업</a:t>
            </a:r>
          </a:p>
          <a:p>
            <a:pPr>
              <a:lnSpc>
                <a:spcPct val="135000"/>
              </a:lnSpc>
              <a:spcBef>
                <a:spcPts val="0"/>
              </a:spcBef>
              <a:spcAft>
                <a:spcPts val="180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사업계획서</a:t>
            </a:r>
          </a:p>
          <a:p>
            <a:pPr>
              <a:lnSpc>
                <a:spcPct val="17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5D6E8"/>
                </a:solidFill>
                <a:latin typeface="Calibri"/>
              </a:rPr>
              <a:t>달루어(earthus) · 대표 신효정 · 2026년 8월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earthus-lockup-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497224"/>
            <a:ext cx="1051560" cy="230847"/>
          </a:xfrm>
          <a:prstGeom prst="rect">
            <a:avLst/>
          </a:prstGeom>
        </p:spPr>
      </p:pic>
      <p:sp>
        <p:nvSpPr>
          <p:cNvPr id="3" name="Oval 2"/>
          <p:cNvSpPr/>
          <p:nvPr/>
        </p:nvSpPr>
        <p:spPr>
          <a:xfrm>
            <a:off x="777240" y="457200"/>
            <a:ext cx="457200" cy="457200"/>
          </a:xfrm>
          <a:prstGeom prst="ellipse">
            <a:avLst/>
          </a:prstGeom>
          <a:solidFill>
            <a:srgbClr val="0F26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99032" y="457200"/>
            <a:ext cx="10015423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F2647"/>
                </a:solidFill>
                <a:latin typeface="Calibri"/>
              </a:rPr>
              <a:t>한눈에 보기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042415"/>
            <a:ext cx="10637215" cy="16459"/>
          </a:xfrm>
          <a:prstGeom prst="rect">
            <a:avLst/>
          </a:prstGeom>
          <a:solidFill>
            <a:srgbClr val="D9E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225296"/>
            <a:ext cx="106372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6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5202B"/>
                </a:solidFill>
                <a:latin typeface="Calibri"/>
              </a:rPr>
              <a:t>예보는 발표되고 사라집니다. earthus 는 한·일·영·미 기상청 공공데이터를 매시간 자동 수집해 3D 지구본 위에 보여주고, 그 예보가 실제로 맞았는지를 시간 단위로 보존해 공개합니다.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2286000"/>
            <a:ext cx="2453563" cy="1737360"/>
          </a:xfrm>
          <a:prstGeom prst="rect">
            <a:avLst/>
          </a:prstGeom>
          <a:solidFill>
            <a:srgbClr val="F4F6F9"/>
          </a:solidFill>
          <a:ln w="9525">
            <a:solidFill>
              <a:srgbClr val="D9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96695" y="2505456"/>
            <a:ext cx="2014651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2600" b="1">
                <a:solidFill>
                  <a:srgbClr val="0F2647"/>
                </a:solidFill>
                <a:latin typeface="Calibri"/>
              </a:rPr>
              <a:t>2020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5" y="2999232"/>
            <a:ext cx="2014651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F5C8B"/>
                </a:solidFill>
                <a:latin typeface="Calibri"/>
              </a:rPr>
              <a:t>설립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5" y="3364991"/>
            <a:ext cx="2014651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C6B7A"/>
                </a:solidFill>
                <a:latin typeface="Calibri"/>
              </a:rPr>
              <a:t>개인사업자 · 정보통신업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05123" y="2286000"/>
            <a:ext cx="2453563" cy="1737360"/>
          </a:xfrm>
          <a:prstGeom prst="rect">
            <a:avLst/>
          </a:prstGeom>
          <a:solidFill>
            <a:srgbClr val="F4F6F9"/>
          </a:solidFill>
          <a:ln w="9525">
            <a:solidFill>
              <a:srgbClr val="D9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24579" y="2505456"/>
            <a:ext cx="2014651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2600" b="1">
                <a:solidFill>
                  <a:srgbClr val="0F2647"/>
                </a:solidFill>
                <a:latin typeface="Calibri"/>
              </a:rPr>
              <a:t>2026.08.04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24579" y="2999232"/>
            <a:ext cx="2014651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F5C8B"/>
                </a:solidFill>
                <a:latin typeface="Calibri"/>
              </a:rPr>
              <a:t>정식 오픈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24579" y="3364991"/>
            <a:ext cx="2014651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C6B7A"/>
                </a:solidFill>
                <a:latin typeface="Calibri"/>
              </a:rPr>
              <a:t>earthus.net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33007" y="2286000"/>
            <a:ext cx="2453563" cy="1737360"/>
          </a:xfrm>
          <a:prstGeom prst="rect">
            <a:avLst/>
          </a:prstGeom>
          <a:solidFill>
            <a:srgbClr val="F4F6F9"/>
          </a:solidFill>
          <a:ln w="9525">
            <a:solidFill>
              <a:srgbClr val="D9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52463" y="2505456"/>
            <a:ext cx="2014651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2600" b="1">
                <a:solidFill>
                  <a:srgbClr val="0F2647"/>
                </a:solidFill>
                <a:latin typeface="Calibri"/>
              </a:rPr>
              <a:t>18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52463" y="2999232"/>
            <a:ext cx="2014651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F5C8B"/>
                </a:solidFill>
                <a:latin typeface="Calibri"/>
              </a:rPr>
              <a:t>개 기관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52463" y="3364991"/>
            <a:ext cx="2014651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C6B7A"/>
                </a:solidFill>
                <a:latin typeface="Calibri"/>
              </a:rPr>
              <a:t>4개국 공공데이터 연계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960891" y="2286000"/>
            <a:ext cx="2453563" cy="1737360"/>
          </a:xfrm>
          <a:prstGeom prst="rect">
            <a:avLst/>
          </a:prstGeom>
          <a:solidFill>
            <a:srgbClr val="F4F6F9"/>
          </a:solidFill>
          <a:ln w="9525">
            <a:solidFill>
              <a:srgbClr val="D9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80347" y="2505456"/>
            <a:ext cx="2014651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2600" b="1">
                <a:solidFill>
                  <a:srgbClr val="0F2647"/>
                </a:solidFill>
                <a:latin typeface="Calibri"/>
              </a:rPr>
              <a:t>54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80347" y="2999232"/>
            <a:ext cx="2014651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F5C8B"/>
                </a:solidFill>
                <a:latin typeface="Calibri"/>
              </a:rPr>
              <a:t>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0347" y="3364991"/>
            <a:ext cx="2014651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C6B7A"/>
                </a:solidFill>
                <a:latin typeface="Calibri"/>
              </a:rPr>
              <a:t>AWS Lambda 자동 수집 파이프라인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earthus-lockup-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497224"/>
            <a:ext cx="1051560" cy="230847"/>
          </a:xfrm>
          <a:prstGeom prst="rect">
            <a:avLst/>
          </a:prstGeom>
        </p:spPr>
      </p:pic>
      <p:sp>
        <p:nvSpPr>
          <p:cNvPr id="3" name="Oval 2"/>
          <p:cNvSpPr/>
          <p:nvPr/>
        </p:nvSpPr>
        <p:spPr>
          <a:xfrm>
            <a:off x="777240" y="457200"/>
            <a:ext cx="457200" cy="457200"/>
          </a:xfrm>
          <a:prstGeom prst="ellipse">
            <a:avLst/>
          </a:prstGeom>
          <a:solidFill>
            <a:srgbClr val="0F26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1-1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99032" y="457200"/>
            <a:ext cx="10015423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F2647"/>
                </a:solidFill>
                <a:latin typeface="Calibri"/>
              </a:rPr>
              <a:t>기업 개요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042415"/>
            <a:ext cx="10637215" cy="16459"/>
          </a:xfrm>
          <a:prstGeom prst="rect">
            <a:avLst/>
          </a:prstGeom>
          <a:solidFill>
            <a:srgbClr val="D9E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207008"/>
            <a:ext cx="10637215" cy="365760"/>
          </a:xfrm>
          <a:prstGeom prst="rect">
            <a:avLst/>
          </a:prstGeom>
          <a:solidFill>
            <a:srgbClr val="0F26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280160"/>
            <a:ext cx="26517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Calibri"/>
              </a:rPr>
              <a:t>항목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86200" y="1280160"/>
            <a:ext cx="8961119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Calibri"/>
              </a:rPr>
              <a:t>내용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572768"/>
            <a:ext cx="10637215" cy="530352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664208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F2647"/>
                </a:solidFill>
                <a:latin typeface="Calibri"/>
              </a:rPr>
              <a:t>회사명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86200" y="1664208"/>
            <a:ext cx="896111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5202B"/>
                </a:solidFill>
                <a:latin typeface="Calibri"/>
              </a:rPr>
              <a:t>달루어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19456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F2647"/>
                </a:solidFill>
                <a:latin typeface="Calibri"/>
              </a:rPr>
              <a:t>대표자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86200" y="2194560"/>
            <a:ext cx="896111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5202B"/>
                </a:solidFill>
                <a:latin typeface="Calibri"/>
              </a:rPr>
              <a:t>신효정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2633472"/>
            <a:ext cx="10637215" cy="530352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2724912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F2647"/>
                </a:solidFill>
                <a:latin typeface="Calibri"/>
              </a:rPr>
              <a:t>사업자등록번호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86200" y="2724912"/>
            <a:ext cx="896111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5202B"/>
                </a:solidFill>
                <a:latin typeface="Calibri"/>
              </a:rPr>
              <a:t>419-03-01562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3255264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F2647"/>
                </a:solidFill>
                <a:latin typeface="Calibri"/>
              </a:rPr>
              <a:t>설립일자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86200" y="3255264"/>
            <a:ext cx="896111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5202B"/>
                </a:solidFill>
                <a:latin typeface="Calibri"/>
              </a:rPr>
              <a:t>2020. 01. 29.  (업력 6년 6개월 · 도약창업기업 구간)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3694176"/>
            <a:ext cx="10637215" cy="530352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3785616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F2647"/>
                </a:solidFill>
                <a:latin typeface="Calibri"/>
              </a:rPr>
              <a:t>주소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86200" y="3785616"/>
            <a:ext cx="896111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5202B"/>
                </a:solidFill>
                <a:latin typeface="Calibri"/>
              </a:rPr>
              <a:t>서울특별시 동작구 사당로16가길 102, 지층 좌측(사당동)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4315968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F2647"/>
                </a:solidFill>
                <a:latin typeface="Calibri"/>
              </a:rPr>
              <a:t>기존 사업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86200" y="4315968"/>
            <a:ext cx="896111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5202B"/>
                </a:solidFill>
                <a:latin typeface="Calibri"/>
              </a:rPr>
              <a:t>영상·미디어 콘텐츠 제작 (광고·영화·촬영장비 임대)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" y="4754880"/>
            <a:ext cx="10637215" cy="530352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" y="484632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F2647"/>
                </a:solidFill>
                <a:latin typeface="Calibri"/>
              </a:rPr>
              <a:t>신규 사업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86200" y="4846320"/>
            <a:ext cx="896111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5202B"/>
                </a:solidFill>
                <a:latin typeface="Calibri"/>
              </a:rPr>
              <a:t>earthus — 공공데이터 기반 3D 지구 기상·재난 시각화 서비스 (2026년 착수)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5449824"/>
            <a:ext cx="106372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C6B7A"/>
                </a:solidFill>
                <a:latin typeface="Calibri"/>
              </a:rPr>
              <a:t>※ ⚠️ 업력은 도약창업기업(4~7년) 구간이나, 공공데이터·AI 사업은 2026년에 착수한 신규 영역입니다. 기존 사업과 별개로 AI 도입 단계는 초기에 가깝다고 판단해, 도약 구간 추천 목록에 없는 「AI-Ready 구축」을 함께 신청합니다.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earthus-lockup-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497224"/>
            <a:ext cx="1051560" cy="230847"/>
          </a:xfrm>
          <a:prstGeom prst="rect">
            <a:avLst/>
          </a:prstGeom>
        </p:spPr>
      </p:pic>
      <p:sp>
        <p:nvSpPr>
          <p:cNvPr id="3" name="Oval 2"/>
          <p:cNvSpPr/>
          <p:nvPr/>
        </p:nvSpPr>
        <p:spPr>
          <a:xfrm>
            <a:off x="777240" y="457200"/>
            <a:ext cx="457200" cy="457200"/>
          </a:xfrm>
          <a:prstGeom prst="ellipse">
            <a:avLst/>
          </a:prstGeom>
          <a:solidFill>
            <a:srgbClr val="0F26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2-1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99032" y="457200"/>
            <a:ext cx="10015423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F2647"/>
                </a:solidFill>
                <a:latin typeface="Calibri"/>
              </a:rPr>
              <a:t>사업 배경 — 예보는 발표되고 사라집니다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042415"/>
            <a:ext cx="10637215" cy="16459"/>
          </a:xfrm>
          <a:prstGeom prst="rect">
            <a:avLst/>
          </a:prstGeom>
          <a:solidFill>
            <a:srgbClr val="D9E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188720"/>
            <a:ext cx="10637215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5202B"/>
                </a:solidFill>
                <a:latin typeface="Calibri"/>
              </a:rPr>
              <a:t>새 예보가 나오면 이전 예보는 덮어써지고, 지나고 나서 "그때 무엇이라고 했는지"를 되찾을 방법이 없습니다. 공공데이터포털·기상청 API허브는 방대한 자료를 공개하지만 대부분 "지금 값"만 제공하고 과거 발표분은 보관하지 않습니다. earthus 는 이 공백에서 출발했습니다 — 공공데이터를 받아 보여주는 데서 그치지 않고, 그 데이터가 실제로 맞았는지 함께 기록해 공개합니다.</a:t>
            </a:r>
          </a:p>
        </p:txBody>
      </p:sp>
      <p:pic>
        <p:nvPicPr>
          <p:cNvPr id="7" name="Picture 6" descr="01-typhoon-glo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1903" y="2286000"/>
            <a:ext cx="2706400" cy="3794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7240" y="6208776"/>
            <a:ext cx="5135727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C6B7A"/>
                </a:solidFill>
                <a:latin typeface="Calibri"/>
              </a:rPr>
              <a:t>태풍 DOLPHIN — 천리안2A 위성영상 위에 기관별 예상경로를 겹쳐 표시</a:t>
            </a:r>
          </a:p>
        </p:txBody>
      </p:sp>
      <p:pic>
        <p:nvPicPr>
          <p:cNvPr id="9" name="Picture 8" descr="page-verify-cro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2082" y="2286000"/>
            <a:ext cx="3949018" cy="37947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278727" y="6208776"/>
            <a:ext cx="5135727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C6B7A"/>
                </a:solidFill>
                <a:latin typeface="Calibri"/>
              </a:rPr>
              <a:t>예보 검증 화면 — GFS·ECMWF 예보를 기상청 실측과 대조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earthus-lockup-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497224"/>
            <a:ext cx="1051560" cy="230847"/>
          </a:xfrm>
          <a:prstGeom prst="rect">
            <a:avLst/>
          </a:prstGeom>
        </p:spPr>
      </p:pic>
      <p:sp>
        <p:nvSpPr>
          <p:cNvPr id="3" name="Oval 2"/>
          <p:cNvSpPr/>
          <p:nvPr/>
        </p:nvSpPr>
        <p:spPr>
          <a:xfrm>
            <a:off x="777240" y="457200"/>
            <a:ext cx="457200" cy="457200"/>
          </a:xfrm>
          <a:prstGeom prst="ellipse">
            <a:avLst/>
          </a:prstGeom>
          <a:solidFill>
            <a:srgbClr val="0F26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2-2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99032" y="457200"/>
            <a:ext cx="10015423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F2647"/>
                </a:solidFill>
                <a:latin typeface="Calibri"/>
              </a:rPr>
              <a:t>서비스 소개 — 무엇을 보여주는가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042415"/>
            <a:ext cx="10637215" cy="16459"/>
          </a:xfrm>
          <a:prstGeom prst="rect">
            <a:avLst/>
          </a:prstGeom>
          <a:solidFill>
            <a:srgbClr val="D9E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188720"/>
            <a:ext cx="10637215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5202B"/>
                </a:solidFill>
                <a:latin typeface="Calibri"/>
              </a:rPr>
              <a:t>웹 브라우저에서 3D 지구본을 돌려 보며 기상·해양·재난·천문 정보를 확인하는 서비스입니다. 설치가 필요 없고 한국어·영어를 지원하며, 2026년 8월 4일 정식 오픈했습니다. 지진·산불·위성·철새 이동까지 공공데이터를 실시간으로 지구 위에 그립니다.</a:t>
            </a:r>
          </a:p>
        </p:txBody>
      </p:sp>
      <p:pic>
        <p:nvPicPr>
          <p:cNvPr id="7" name="Picture 6" descr="05-quake-detai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286000"/>
            <a:ext cx="5135727" cy="302193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7240" y="5435953"/>
            <a:ext cx="5135727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C6B7A"/>
                </a:solidFill>
                <a:latin typeface="Calibri"/>
              </a:rPr>
              <a:t>지진 상세 — EMSC 관측을 규모·깊이·위치·시각과 함께 표시</a:t>
            </a:r>
          </a:p>
        </p:txBody>
      </p:sp>
      <p:pic>
        <p:nvPicPr>
          <p:cNvPr id="9" name="Picture 8" descr="04-wildfi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90496" y="2286000"/>
            <a:ext cx="3312189" cy="37947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278727" y="6208776"/>
            <a:ext cx="5135727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C6B7A"/>
                </a:solidFill>
                <a:latin typeface="Calibri"/>
              </a:rPr>
              <a:t>산불 — NASA VIIRS 위성영상으로 열입지 실시간 표시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earthus-lockup-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497224"/>
            <a:ext cx="1051560" cy="230847"/>
          </a:xfrm>
          <a:prstGeom prst="rect">
            <a:avLst/>
          </a:prstGeom>
        </p:spPr>
      </p:pic>
      <p:sp>
        <p:nvSpPr>
          <p:cNvPr id="3" name="Oval 2"/>
          <p:cNvSpPr/>
          <p:nvPr/>
        </p:nvSpPr>
        <p:spPr>
          <a:xfrm>
            <a:off x="777240" y="457200"/>
            <a:ext cx="457200" cy="457200"/>
          </a:xfrm>
          <a:prstGeom prst="ellipse">
            <a:avLst/>
          </a:prstGeom>
          <a:solidFill>
            <a:srgbClr val="0F26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2-2b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99032" y="457200"/>
            <a:ext cx="10015423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F2647"/>
                </a:solidFill>
                <a:latin typeface="Calibri"/>
              </a:rPr>
              <a:t>서비스 소개 — 위성·생태 데이터까지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042415"/>
            <a:ext cx="10637215" cy="16459"/>
          </a:xfrm>
          <a:prstGeom prst="rect">
            <a:avLst/>
          </a:prstGeom>
          <a:solidFill>
            <a:srgbClr val="D9E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188720"/>
            <a:ext cx="10637215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5202B"/>
                </a:solidFill>
                <a:latin typeface="Calibri"/>
              </a:rPr>
              <a:t>기상·재난에 그치지 않고 위성 궤도 카탈로그, 철새 이동 관측 같은 공공데이터도 함께 다룹니다. 다만 자료의 한계도 화면에 그대로 밝힙니다 — 철새 이동 경로는 실제 비행 궤적이 아니라 출발지·도착지 두 지점을 이은 것이며, 화면에 그렇게 적어 둡니다. 없는 정밀도를 있는 것처럼 보이게 하지 않습니다.</a:t>
            </a:r>
          </a:p>
        </p:txBody>
      </p:sp>
      <p:pic>
        <p:nvPicPr>
          <p:cNvPr id="7" name="Picture 6" descr="03-satellite-detai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9342" y="2286000"/>
            <a:ext cx="2291521" cy="3794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7240" y="6208776"/>
            <a:ext cx="5135727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C6B7A"/>
                </a:solidFill>
                <a:latin typeface="Calibri"/>
              </a:rPr>
              <a:t>위성 궤도 카탈로그 — Iridium 170 상세 정보</a:t>
            </a:r>
          </a:p>
        </p:txBody>
      </p:sp>
      <p:pic>
        <p:nvPicPr>
          <p:cNvPr id="9" name="Picture 8" descr="06-migratory-bir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11398" y="2286000"/>
            <a:ext cx="2670386" cy="37947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278727" y="6208776"/>
            <a:ext cx="5135727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C6B7A"/>
                </a:solidFill>
                <a:latin typeface="Calibri"/>
              </a:rPr>
              <a:t>철새 이동 관측 — 179건 · 14종 · 한계를 화면에 명시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earthus-lockup-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497224"/>
            <a:ext cx="1051560" cy="230847"/>
          </a:xfrm>
          <a:prstGeom prst="rect">
            <a:avLst/>
          </a:prstGeom>
        </p:spPr>
      </p:pic>
      <p:sp>
        <p:nvSpPr>
          <p:cNvPr id="3" name="Oval 2"/>
          <p:cNvSpPr/>
          <p:nvPr/>
        </p:nvSpPr>
        <p:spPr>
          <a:xfrm>
            <a:off x="777240" y="457200"/>
            <a:ext cx="457200" cy="457200"/>
          </a:xfrm>
          <a:prstGeom prst="ellipse">
            <a:avLst/>
          </a:prstGeom>
          <a:solidFill>
            <a:srgbClr val="0F26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2-3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99032" y="457200"/>
            <a:ext cx="10015423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F2647"/>
                </a:solidFill>
                <a:latin typeface="Calibri"/>
              </a:rPr>
              <a:t>활용 중인 공공데이터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042415"/>
            <a:ext cx="10637215" cy="16459"/>
          </a:xfrm>
          <a:prstGeom prst="rect">
            <a:avLst/>
          </a:prstGeom>
          <a:solidFill>
            <a:srgbClr val="D9E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207008"/>
            <a:ext cx="10637215" cy="365760"/>
          </a:xfrm>
          <a:prstGeom prst="rect">
            <a:avLst/>
          </a:prstGeom>
          <a:solidFill>
            <a:srgbClr val="0F26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280160"/>
            <a:ext cx="292608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Calibri"/>
              </a:rPr>
              <a:t>제공기관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1280160"/>
            <a:ext cx="60350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Calibri"/>
              </a:rPr>
              <a:t>데이터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1280160"/>
            <a:ext cx="1463039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Calibri"/>
              </a:rPr>
              <a:t>방식·주기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1572768"/>
            <a:ext cx="10637215" cy="530352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1664208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F2647"/>
                </a:solidFill>
                <a:latin typeface="Calibri"/>
              </a:rPr>
              <a:t>기상청 API허브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60520" y="1664208"/>
            <a:ext cx="6035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5202B"/>
                </a:solidFill>
                <a:latin typeface="Calibri"/>
              </a:rPr>
              <a:t>지진통보·전지구관측(GTS)·낙뢰관측·평년값·태풍정보·산악기상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69880" y="1664208"/>
            <a:ext cx="14630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5202B"/>
                </a:solidFill>
                <a:latin typeface="Calibri"/>
              </a:rPr>
              <a:t>매시간~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219456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F2647"/>
                </a:solidFill>
                <a:latin typeface="Calibri"/>
              </a:rPr>
              <a:t>공공데이터포털(환경공단)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60520" y="2194560"/>
            <a:ext cx="6035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5202B"/>
                </a:solidFill>
                <a:latin typeface="Calibri"/>
              </a:rPr>
              <a:t>대기오염 실시간 측정정보, 측정소 정보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69880" y="2194560"/>
            <a:ext cx="14630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5202B"/>
                </a:solidFill>
                <a:latin typeface="Calibri"/>
              </a:rPr>
              <a:t>매시간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2633472"/>
            <a:ext cx="10637215" cy="530352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2724912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F2647"/>
                </a:solidFill>
                <a:latin typeface="Calibri"/>
              </a:rPr>
              <a:t>공공데이터포털(산림청)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60520" y="2724912"/>
            <a:ext cx="6035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5202B"/>
                </a:solidFill>
                <a:latin typeface="Calibri"/>
              </a:rPr>
              <a:t>산불 발생 정보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69880" y="2724912"/>
            <a:ext cx="14630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5202B"/>
                </a:solidFill>
                <a:latin typeface="Calibri"/>
              </a:rPr>
              <a:t>3시간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3255264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F2647"/>
                </a:solidFill>
                <a:latin typeface="Calibri"/>
              </a:rPr>
              <a:t>공공데이터포털(해수부)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60520" y="3255264"/>
            <a:ext cx="6035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5202B"/>
                </a:solidFill>
                <a:latin typeface="Calibri"/>
              </a:rPr>
              <a:t>조위관측 실시간, 이안류 지수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69880" y="3255264"/>
            <a:ext cx="14630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5202B"/>
                </a:solidFill>
                <a:latin typeface="Calibri"/>
              </a:rPr>
              <a:t>매시간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" y="3694176"/>
            <a:ext cx="10637215" cy="530352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" y="3785616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F2647"/>
                </a:solidFill>
                <a:latin typeface="Calibri"/>
              </a:rPr>
              <a:t>공공데이터포털(해양생물자원관)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60520" y="3785616"/>
            <a:ext cx="6035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5202B"/>
                </a:solidFill>
                <a:latin typeface="Calibri"/>
              </a:rPr>
              <a:t>바다거북 이동경로, 바닷새 조사정보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469880" y="3785616"/>
            <a:ext cx="14630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5202B"/>
                </a:solidFill>
                <a:latin typeface="Calibri"/>
              </a:rPr>
              <a:t>일 1회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" y="4315968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F2647"/>
                </a:solidFill>
                <a:latin typeface="Calibri"/>
              </a:rPr>
              <a:t>국립생태원 에코뱅크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60520" y="4315968"/>
            <a:ext cx="6035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5202B"/>
                </a:solidFill>
                <a:latin typeface="Calibri"/>
              </a:rPr>
              <a:t>철새 이동 관측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469880" y="4315968"/>
            <a:ext cx="14630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5202B"/>
                </a:solidFill>
                <a:latin typeface="Calibri"/>
              </a:rPr>
              <a:t>일 1회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754880"/>
            <a:ext cx="10637215" cy="530352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0120" y="484632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F2647"/>
                </a:solidFill>
                <a:latin typeface="Calibri"/>
              </a:rPr>
              <a:t>농림축산식품부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60520" y="4846320"/>
            <a:ext cx="6035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5202B"/>
                </a:solidFill>
                <a:latin typeface="Calibri"/>
              </a:rPr>
              <a:t>철새도래지 정보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469880" y="4846320"/>
            <a:ext cx="14630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5202B"/>
                </a:solidFill>
                <a:latin typeface="Calibri"/>
              </a:rPr>
              <a:t>일 1회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5449824"/>
            <a:ext cx="106372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C6B7A"/>
                </a:solidFill>
                <a:latin typeface="Calibri"/>
              </a:rPr>
              <a:t>※ 기상청 API허브는 482개 API 활용 신청이 승인되어 있으며, 현재 실제 호출은 6종입니다. 승인된 나머지를 어떤 순서로 도입할지 컨설팅을 희망합니다.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earthus-lockup-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497224"/>
            <a:ext cx="1051560" cy="230847"/>
          </a:xfrm>
          <a:prstGeom prst="rect">
            <a:avLst/>
          </a:prstGeom>
        </p:spPr>
      </p:pic>
      <p:sp>
        <p:nvSpPr>
          <p:cNvPr id="3" name="Oval 2"/>
          <p:cNvSpPr/>
          <p:nvPr/>
        </p:nvSpPr>
        <p:spPr>
          <a:xfrm>
            <a:off x="777240" y="457200"/>
            <a:ext cx="457200" cy="457200"/>
          </a:xfrm>
          <a:prstGeom prst="ellipse">
            <a:avLst/>
          </a:prstGeom>
          <a:solidFill>
            <a:srgbClr val="0F26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2-3b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99032" y="457200"/>
            <a:ext cx="10015423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F2647"/>
                </a:solidFill>
                <a:latin typeface="Calibri"/>
              </a:rPr>
              <a:t>시스템 구성 — 어떻게 처리하는가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042415"/>
            <a:ext cx="10637215" cy="16459"/>
          </a:xfrm>
          <a:prstGeom prst="rect">
            <a:avLst/>
          </a:prstGeom>
          <a:solidFill>
            <a:srgbClr val="D9E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207008"/>
            <a:ext cx="10637215" cy="365760"/>
          </a:xfrm>
          <a:prstGeom prst="rect">
            <a:avLst/>
          </a:prstGeom>
          <a:solidFill>
            <a:srgbClr val="0F26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280160"/>
            <a:ext cx="155448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Calibri"/>
              </a:rPr>
              <a:t>단계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88920" y="1280160"/>
            <a:ext cx="30175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Calibri"/>
              </a:rPr>
              <a:t>구성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80760" y="1280160"/>
            <a:ext cx="67665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Calibri"/>
              </a:rPr>
              <a:t>내용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1572768"/>
            <a:ext cx="10637215" cy="530352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1664208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F2647"/>
                </a:solidFill>
                <a:latin typeface="Calibri"/>
              </a:rPr>
              <a:t>① 수집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88920" y="1664208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5202B"/>
                </a:solidFill>
                <a:latin typeface="Calibri"/>
              </a:rPr>
              <a:t>AWS Lambda 54개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80760" y="1664208"/>
            <a:ext cx="6766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5202B"/>
                </a:solidFill>
                <a:latin typeface="Calibri"/>
              </a:rPr>
              <a:t>18개 기관을 매시간~6시간 주기로 자동 호출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219456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F2647"/>
                </a:solidFill>
                <a:latin typeface="Calibri"/>
              </a:rPr>
              <a:t>② 가공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88920" y="219456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5202B"/>
                </a:solidFill>
                <a:latin typeface="Calibri"/>
              </a:rPr>
              <a:t>Lambda + Python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80760" y="2194560"/>
            <a:ext cx="6766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5202B"/>
                </a:solidFill>
                <a:latin typeface="Calibri"/>
              </a:rPr>
              <a:t>위성 원본→등경위도 변환, 관측값 격자 보간, 예보 시각별 분리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2633472"/>
            <a:ext cx="10637215" cy="530352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2724912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F2647"/>
                </a:solidFill>
                <a:latin typeface="Calibri"/>
              </a:rPr>
              <a:t>③ 보관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88920" y="2724912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5202B"/>
                </a:solidFill>
                <a:latin typeface="Calibri"/>
              </a:rPr>
              <a:t>Amazon S3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80760" y="2724912"/>
            <a:ext cx="6766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5202B"/>
                </a:solidFill>
                <a:latin typeface="Calibri"/>
              </a:rPr>
              <a:t>2026-08-06 기준 누적 184MB · 일 10.2MB 증가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3255264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F2647"/>
                </a:solidFill>
                <a:latin typeface="Calibri"/>
              </a:rPr>
              <a:t>④ 배포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88920" y="3255264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5202B"/>
                </a:solidFill>
                <a:latin typeface="Calibri"/>
              </a:rPr>
              <a:t>CloudFront CDN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80760" y="3255264"/>
            <a:ext cx="6766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5202B"/>
                </a:solidFill>
                <a:latin typeface="Calibri"/>
              </a:rPr>
              <a:t>전 세계 캐시 배포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" y="3694176"/>
            <a:ext cx="10637215" cy="530352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" y="3785616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F2647"/>
                </a:solidFill>
                <a:latin typeface="Calibri"/>
              </a:rPr>
              <a:t>⑤ 표현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88920" y="3785616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5202B"/>
                </a:solidFill>
                <a:latin typeface="Calibri"/>
              </a:rPr>
              <a:t>브라우저 (Cesium WebGL)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80760" y="3785616"/>
            <a:ext cx="6766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5202B"/>
                </a:solidFill>
                <a:latin typeface="Calibri"/>
              </a:rPr>
              <a:t>58개 레이어 · 격자·위성영상·지점·사건·경로·바람 7방식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4389120"/>
            <a:ext cx="106372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C6B7A"/>
                </a:solidFill>
                <a:latin typeface="Calibri"/>
              </a:rPr>
              <a:t>※ 서버리스 구조로 고정비가 낮습니다. 2026-08-06 기준 서버 비용은 월 1만원 미만으로 추정됩니다.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earthus-lockup-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497224"/>
            <a:ext cx="1051560" cy="230847"/>
          </a:xfrm>
          <a:prstGeom prst="rect">
            <a:avLst/>
          </a:prstGeom>
        </p:spPr>
      </p:pic>
      <p:sp>
        <p:nvSpPr>
          <p:cNvPr id="3" name="Oval 2"/>
          <p:cNvSpPr/>
          <p:nvPr/>
        </p:nvSpPr>
        <p:spPr>
          <a:xfrm>
            <a:off x="777240" y="457200"/>
            <a:ext cx="457200" cy="457200"/>
          </a:xfrm>
          <a:prstGeom prst="ellipse">
            <a:avLst/>
          </a:prstGeom>
          <a:solidFill>
            <a:srgbClr val="0F26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99032" y="457200"/>
            <a:ext cx="10015423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F2647"/>
                </a:solidFill>
                <a:latin typeface="Calibri"/>
              </a:rPr>
              <a:t>핵심 자산 — 예보 검증 아카이브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042415"/>
            <a:ext cx="10637215" cy="16459"/>
          </a:xfrm>
          <a:prstGeom prst="rect">
            <a:avLst/>
          </a:prstGeom>
          <a:solidFill>
            <a:srgbClr val="D9E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133856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F5C8B"/>
                </a:solidFill>
                <a:latin typeface="Calibri"/>
              </a:rPr>
              <a:t>2026년 7월 26일부터 매시간 저장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536192"/>
            <a:ext cx="2453563" cy="1371600"/>
          </a:xfrm>
          <a:prstGeom prst="rect">
            <a:avLst/>
          </a:prstGeom>
          <a:solidFill>
            <a:srgbClr val="F4F6F9"/>
          </a:solidFill>
          <a:ln w="9525">
            <a:solidFill>
              <a:srgbClr val="D9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96695" y="1719072"/>
            <a:ext cx="2014651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2800" b="1">
                <a:solidFill>
                  <a:srgbClr val="0F2647"/>
                </a:solidFill>
                <a:latin typeface="Calibri"/>
              </a:rPr>
              <a:t>97</a:t>
            </a:r>
            <a:r>
              <a:rPr sz="1200">
                <a:solidFill>
                  <a:srgbClr val="5C6B7A"/>
                </a:solidFill>
                <a:latin typeface="Calibri"/>
              </a:rPr>
              <a:t> 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5" y="2322576"/>
            <a:ext cx="2014651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5202B"/>
                </a:solidFill>
                <a:latin typeface="Calibri"/>
              </a:rPr>
              <a:t>기상청 관측지점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05123" y="1536192"/>
            <a:ext cx="2453563" cy="1371600"/>
          </a:xfrm>
          <a:prstGeom prst="rect">
            <a:avLst/>
          </a:prstGeom>
          <a:solidFill>
            <a:srgbClr val="F4F6F9"/>
          </a:solidFill>
          <a:ln w="9525">
            <a:solidFill>
              <a:srgbClr val="D9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24579" y="1719072"/>
            <a:ext cx="2014651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2800" b="1">
                <a:solidFill>
                  <a:srgbClr val="0F2647"/>
                </a:solidFill>
                <a:latin typeface="Calibri"/>
              </a:rPr>
              <a:t>2</a:t>
            </a:r>
            <a:r>
              <a:rPr sz="1200">
                <a:solidFill>
                  <a:srgbClr val="5C6B7A"/>
                </a:solidFill>
                <a:latin typeface="Calibri"/>
              </a:rPr>
              <a:t> 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24579" y="2322576"/>
            <a:ext cx="2014651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5202B"/>
                </a:solidFill>
                <a:latin typeface="Calibri"/>
              </a:rPr>
              <a:t>모델 GFS·ECMWF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33007" y="1536192"/>
            <a:ext cx="2453563" cy="1371600"/>
          </a:xfrm>
          <a:prstGeom prst="rect">
            <a:avLst/>
          </a:prstGeom>
          <a:solidFill>
            <a:srgbClr val="F4F6F9"/>
          </a:solidFill>
          <a:ln w="9525">
            <a:solidFill>
              <a:srgbClr val="D9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52463" y="1719072"/>
            <a:ext cx="2014651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2800" b="1">
                <a:solidFill>
                  <a:srgbClr val="0F2647"/>
                </a:solidFill>
                <a:latin typeface="Calibri"/>
              </a:rPr>
              <a:t>72</a:t>
            </a:r>
            <a:r>
              <a:rPr sz="1200">
                <a:solidFill>
                  <a:srgbClr val="5C6B7A"/>
                </a:solidFill>
                <a:latin typeface="Calibri"/>
              </a:rPr>
              <a:t> 시간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52463" y="2322576"/>
            <a:ext cx="2014651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5202B"/>
                </a:solidFill>
                <a:latin typeface="Calibri"/>
              </a:rPr>
              <a:t>예보 길이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960891" y="1536192"/>
            <a:ext cx="2453563" cy="1371600"/>
          </a:xfrm>
          <a:prstGeom prst="rect">
            <a:avLst/>
          </a:prstGeom>
          <a:solidFill>
            <a:srgbClr val="F4F6F9"/>
          </a:solidFill>
          <a:ln w="9525">
            <a:solidFill>
              <a:srgbClr val="D9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80347" y="1719072"/>
            <a:ext cx="2014651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2800" b="1">
                <a:solidFill>
                  <a:srgbClr val="0F2647"/>
                </a:solidFill>
                <a:latin typeface="Calibri"/>
              </a:rPr>
              <a:t>11</a:t>
            </a:r>
            <a:r>
              <a:rPr sz="1200">
                <a:solidFill>
                  <a:srgbClr val="5C6B7A"/>
                </a:solidFill>
                <a:latin typeface="Calibri"/>
              </a:rPr>
              <a:t> 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80347" y="2322576"/>
            <a:ext cx="2014651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5202B"/>
                </a:solidFill>
                <a:latin typeface="Calibri"/>
              </a:rPr>
              <a:t>지금까지 쌓인 기간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3108960"/>
            <a:ext cx="10637215" cy="4206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6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5202B"/>
                </a:solidFill>
                <a:latin typeface="Calibri"/>
              </a:rPr>
              <a:t>예보-실측 쌍은 시간이 지나야만 만들어지는 자산입니다. 지역별·조건별로 모델 정확도를 따지려면 발표되는 순간에 보존해 두는 수밖에 없습니다. 이 기록은 향후 기상 AI 의 학습·평가에 쓰이는 정답지(ground truth)가 됩니다.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3657600"/>
            <a:ext cx="10637215" cy="457200"/>
          </a:xfrm>
          <a:prstGeom prst="rect">
            <a:avLst/>
          </a:prstGeom>
          <a:solidFill>
            <a:srgbClr val="FDF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7240" y="3657600"/>
            <a:ext cx="41148" cy="457200"/>
          </a:xfrm>
          <a:prstGeom prst="rect">
            <a:avLst/>
          </a:prstGeom>
          <a:solidFill>
            <a:srgbClr val="B56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96695" y="3776472"/>
            <a:ext cx="10234879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5620A"/>
                </a:solidFill>
                <a:latin typeface="Calibri"/>
              </a:rPr>
              <a:t>⚠  솔직히 적습니다. 현재 11일치입니다. 얇습니다. 다만 오늘 똑같이 시작하는 곳은 오늘부터 0일이며, 저희는 매일 쌓고 있습니다.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earthus-lockup-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497224"/>
            <a:ext cx="1051560" cy="230847"/>
          </a:xfrm>
          <a:prstGeom prst="rect">
            <a:avLst/>
          </a:prstGeom>
        </p:spPr>
      </p:pic>
      <p:sp>
        <p:nvSpPr>
          <p:cNvPr id="3" name="Oval 2"/>
          <p:cNvSpPr/>
          <p:nvPr/>
        </p:nvSpPr>
        <p:spPr>
          <a:xfrm>
            <a:off x="777240" y="457200"/>
            <a:ext cx="457200" cy="457200"/>
          </a:xfrm>
          <a:prstGeom prst="ellipse">
            <a:avLst/>
          </a:prstGeom>
          <a:solidFill>
            <a:srgbClr val="0F26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99032" y="457200"/>
            <a:ext cx="10015423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F2647"/>
                </a:solidFill>
                <a:latin typeface="Calibri"/>
              </a:rPr>
              <a:t>없는 것 — 먼저 밝힙니다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042415"/>
            <a:ext cx="10637215" cy="16459"/>
          </a:xfrm>
          <a:prstGeom prst="rect">
            <a:avLst/>
          </a:prstGeom>
          <a:solidFill>
            <a:srgbClr val="D9E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188720"/>
            <a:ext cx="106372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C6B7A"/>
                </a:solidFill>
                <a:latin typeface="Calibri"/>
              </a:rPr>
              <a:t>심사에서 확인될 것을 계획서에서 먼저 말하는 편이 정확한 평가에 도움이 된다고 생각합니다. earthus 는 서비스 화면에서도 같은 원칙을 씁니다.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792224"/>
            <a:ext cx="10637215" cy="512064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96695" y="2011680"/>
            <a:ext cx="91440" cy="91440"/>
          </a:xfrm>
          <a:prstGeom prst="ellipse">
            <a:avLst/>
          </a:prstGeom>
          <a:solidFill>
            <a:srgbClr val="1F5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52728" y="1911095"/>
            <a:ext cx="990569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100" b="1">
                <a:solidFill>
                  <a:srgbClr val="15202B"/>
                </a:solidFill>
                <a:latin typeface="Calibri"/>
              </a:rPr>
              <a:t>학습된 AI 모델이 없습니다</a:t>
            </a:r>
            <a:r>
              <a:rPr sz="950">
                <a:solidFill>
                  <a:srgbClr val="5C6B7A"/>
                </a:solidFill>
                <a:latin typeface="Calibri"/>
              </a:rPr>
              <a:t>  —  코드 전수 확인 결과 TensorFlow·PyTorch·scikit-learn 사용 0건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2377440"/>
            <a:ext cx="10637215" cy="512064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6695" y="2596896"/>
            <a:ext cx="91440" cy="91440"/>
          </a:xfrm>
          <a:prstGeom prst="ellipse">
            <a:avLst/>
          </a:prstGeom>
          <a:solidFill>
            <a:srgbClr val="1F5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52728" y="2496312"/>
            <a:ext cx="990569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100" b="1">
                <a:solidFill>
                  <a:srgbClr val="15202B"/>
                </a:solidFill>
                <a:latin typeface="Calibri"/>
              </a:rPr>
              <a:t>전용 서버·자체 위성이 없습니다</a:t>
            </a:r>
            <a:r>
              <a:rPr sz="950">
                <a:solidFill>
                  <a:srgbClr val="5C6B7A"/>
                </a:solidFill>
                <a:latin typeface="Calibri"/>
              </a:rPr>
              <a:t>  —  서버리스 구조로 공개 자료를 받아 처리합니다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962656"/>
            <a:ext cx="10637215" cy="512064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96695" y="3182112"/>
            <a:ext cx="91440" cy="91440"/>
          </a:xfrm>
          <a:prstGeom prst="ellipse">
            <a:avLst/>
          </a:prstGeom>
          <a:solidFill>
            <a:srgbClr val="1F5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52728" y="3081528"/>
            <a:ext cx="990569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100" b="1">
                <a:solidFill>
                  <a:srgbClr val="15202B"/>
                </a:solidFill>
                <a:latin typeface="Calibri"/>
              </a:rPr>
              <a:t>재무·인력 실적은 신규 사업(2026년 착수) 특성상 아직 없습니다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3547872"/>
            <a:ext cx="10637215" cy="512064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6695" y="3767328"/>
            <a:ext cx="91440" cy="91440"/>
          </a:xfrm>
          <a:prstGeom prst="ellipse">
            <a:avLst/>
          </a:prstGeom>
          <a:solidFill>
            <a:srgbClr val="1F5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52728" y="3666744"/>
            <a:ext cx="990569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100" b="1">
                <a:solidFill>
                  <a:srgbClr val="15202B"/>
                </a:solidFill>
                <a:latin typeface="Calibri"/>
              </a:rPr>
              <a:t>기상청 API허브 482개 중 실제 활용은 6종입니다</a:t>
            </a:r>
            <a:r>
              <a:rPr sz="950">
                <a:solidFill>
                  <a:srgbClr val="5C6B7A"/>
                </a:solidFill>
                <a:latin typeface="Calibri"/>
              </a:rPr>
              <a:t>  —  승인은 받았으나 아직 다 쓰지 못했습니다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4261104"/>
            <a:ext cx="10637215" cy="713232"/>
          </a:xfrm>
          <a:prstGeom prst="rect">
            <a:avLst/>
          </a:prstGeom>
          <a:solidFill>
            <a:srgbClr val="0F26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1" y="4389120"/>
            <a:ext cx="10125151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본 사업을 통해 채우고자 하는 것이 바로 이 빈칸입니다 — 자료를 AI 학습 형태로 만드는 방법과, 다음에 무엇을 붙일지에 대한 방향입니다.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earthus-lockup-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497224"/>
            <a:ext cx="1051560" cy="230847"/>
          </a:xfrm>
          <a:prstGeom prst="rect">
            <a:avLst/>
          </a:prstGeom>
        </p:spPr>
      </p:pic>
      <p:sp>
        <p:nvSpPr>
          <p:cNvPr id="3" name="Oval 2"/>
          <p:cNvSpPr/>
          <p:nvPr/>
        </p:nvSpPr>
        <p:spPr>
          <a:xfrm>
            <a:off x="777240" y="457200"/>
            <a:ext cx="457200" cy="457200"/>
          </a:xfrm>
          <a:prstGeom prst="ellipse">
            <a:avLst/>
          </a:prstGeom>
          <a:solidFill>
            <a:srgbClr val="0F26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99032" y="457200"/>
            <a:ext cx="10015423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F2647"/>
                </a:solidFill>
                <a:latin typeface="Calibri"/>
              </a:rPr>
              <a:t>희망 프로그램과 그 이유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042415"/>
            <a:ext cx="10637215" cy="16459"/>
          </a:xfrm>
          <a:prstGeom prst="rect">
            <a:avLst/>
          </a:prstGeom>
          <a:solidFill>
            <a:srgbClr val="D9E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207008"/>
            <a:ext cx="2377440" cy="1060704"/>
          </a:xfrm>
          <a:prstGeom prst="rect">
            <a:avLst/>
          </a:prstGeom>
          <a:solidFill>
            <a:srgbClr val="0F26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1353312"/>
            <a:ext cx="2048256" cy="78638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Calibri"/>
              </a:rPr>
              <a:t>AI-Ready 구축</a:t>
            </a:r>
          </a:p>
        </p:txBody>
      </p:sp>
      <p:sp>
        <p:nvSpPr>
          <p:cNvPr id="8" name="Rectangle 7"/>
          <p:cNvSpPr/>
          <p:nvPr/>
        </p:nvSpPr>
        <p:spPr>
          <a:xfrm>
            <a:off x="3154680" y="1207008"/>
            <a:ext cx="8259775" cy="1060704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74136" y="1298448"/>
            <a:ext cx="7985455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F5C8B"/>
                </a:solidFill>
                <a:latin typeface="Calibri"/>
              </a:rPr>
              <a:t>공공데이터 수집·정제 / 구조화·라벨링 / 학습데이터 준비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74136" y="1591056"/>
            <a:ext cx="7985455" cy="60350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5202B"/>
                </a:solidFill>
                <a:latin typeface="Calibri"/>
              </a:rPr>
              <a:t>예보-실측 쌍을 매시간 쌓고 있으나, AI 학습에 쓸 수 있는 형태로 구조화·라벨링하는 방법을 정하지 못했습니다. 어떤 단위로 묶고 어떤 품질 기준으로 거를지 전문가 검토가 필요합니다.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377439"/>
            <a:ext cx="2377440" cy="1060704"/>
          </a:xfrm>
          <a:prstGeom prst="rect">
            <a:avLst/>
          </a:prstGeom>
          <a:solidFill>
            <a:srgbClr val="0F26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1832" y="2523744"/>
            <a:ext cx="2048256" cy="78638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Calibri"/>
              </a:rPr>
              <a:t>AI 서비스 고도화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54680" y="2377439"/>
            <a:ext cx="8259775" cy="1060704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74136" y="2468879"/>
            <a:ext cx="7985455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F5C8B"/>
                </a:solidFill>
                <a:latin typeface="Calibri"/>
              </a:rPr>
              <a:t>특허 출원 지원 / AI 모델 고도화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74136" y="2761487"/>
            <a:ext cx="7985455" cy="60350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5202B"/>
                </a:solidFill>
                <a:latin typeface="Calibri"/>
              </a:rPr>
              <a:t>예보를 시각 단위로 보존해 실측과 대조하는 방식이 핵심 자산인데 현재 아무런 권리 보호가 없습니다. 축적한 데이터 위에 AI 를 올리는 방향 설정도 함께 필요합니다.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3547871"/>
            <a:ext cx="2377440" cy="1060704"/>
          </a:xfrm>
          <a:prstGeom prst="rect">
            <a:avLst/>
          </a:prstGeom>
          <a:solidFill>
            <a:srgbClr val="0F26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1832" y="3694175"/>
            <a:ext cx="2048256" cy="78638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Calibri"/>
              </a:rPr>
              <a:t>투자·해외 진출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154680" y="3547871"/>
            <a:ext cx="8259775" cy="1060704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74136" y="3639311"/>
            <a:ext cx="7985455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F5C8B"/>
                </a:solidFill>
                <a:latin typeface="Calibri"/>
              </a:rPr>
              <a:t>사업 체계화 및 투자 유치 / IR·네트워킹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74136" y="3931920"/>
            <a:ext cx="7985455" cy="60350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5202B"/>
                </a:solidFill>
                <a:latin typeface="Calibri"/>
              </a:rPr>
              <a:t>개인 구독만으로는 필요 데이터(항공기·선박 실시간 등) 구매 비용을 감당하기 어렵습니다.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4718303"/>
            <a:ext cx="2377440" cy="1060704"/>
          </a:xfrm>
          <a:prstGeom prst="rect">
            <a:avLst/>
          </a:prstGeom>
          <a:solidFill>
            <a:srgbClr val="0F26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1832" y="4864607"/>
            <a:ext cx="2048256" cy="78638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Calibri"/>
              </a:rPr>
              <a:t>창업지원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154680" y="4718303"/>
            <a:ext cx="8259775" cy="1060704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374136" y="4809743"/>
            <a:ext cx="7985455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F5C8B"/>
                </a:solidFill>
                <a:latin typeface="Calibri"/>
              </a:rPr>
              <a:t>필요 공공데이터 탐색 및 매칭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74136" y="5102351"/>
            <a:ext cx="7985455" cy="60350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5202B"/>
                </a:solidFill>
                <a:latin typeface="Calibri"/>
              </a:rPr>
              <a:t>기상청 API허브 482개 중 실제 활용은 6종입니다. 레이더 합성 등 우선 도입할 데이터를 함께 골라 주시면 좋겠습니다.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earthus-lockup-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497224"/>
            <a:ext cx="1051560" cy="230847"/>
          </a:xfrm>
          <a:prstGeom prst="rect">
            <a:avLst/>
          </a:prstGeom>
        </p:spPr>
      </p:pic>
      <p:sp>
        <p:nvSpPr>
          <p:cNvPr id="3" name="Oval 2"/>
          <p:cNvSpPr/>
          <p:nvPr/>
        </p:nvSpPr>
        <p:spPr>
          <a:xfrm>
            <a:off x="777240" y="457200"/>
            <a:ext cx="457200" cy="457200"/>
          </a:xfrm>
          <a:prstGeom prst="ellipse">
            <a:avLst/>
          </a:prstGeom>
          <a:solidFill>
            <a:srgbClr val="0F26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99032" y="457200"/>
            <a:ext cx="10015423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F2647"/>
                </a:solidFill>
                <a:latin typeface="Calibri"/>
              </a:rPr>
              <a:t>비즈니스 모델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042415"/>
            <a:ext cx="10637215" cy="16459"/>
          </a:xfrm>
          <a:prstGeom prst="rect">
            <a:avLst/>
          </a:prstGeom>
          <a:solidFill>
            <a:srgbClr val="D9E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207008"/>
            <a:ext cx="10637215" cy="365760"/>
          </a:xfrm>
          <a:prstGeom prst="rect">
            <a:avLst/>
          </a:prstGeom>
          <a:solidFill>
            <a:srgbClr val="0F26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280160"/>
            <a:ext cx="19202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Calibri"/>
              </a:rPr>
              <a:t>구분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54680" y="1280160"/>
            <a:ext cx="704088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Calibri"/>
              </a:rPr>
              <a:t>내용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1280160"/>
            <a:ext cx="25603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Calibri"/>
              </a:rPr>
              <a:t>상태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1572768"/>
            <a:ext cx="10637215" cy="530352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1664208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F2647"/>
                </a:solidFill>
                <a:latin typeface="Calibri"/>
              </a:rPr>
              <a:t>계속 무료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54680" y="1664208"/>
            <a:ext cx="7040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5202B"/>
                </a:solidFill>
                <a:latin typeface="Calibri"/>
              </a:rPr>
              <a:t>태풍·지진·쓰나미 등 안전 정보, 구름·날씨, 예보 검증, 3D 학습 콘텐츠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69880" y="1664208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5202B"/>
                </a:solidFill>
                <a:latin typeface="Calibri"/>
              </a:rPr>
              <a:t>제공 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2194560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F2647"/>
                </a:solidFill>
                <a:latin typeface="Calibri"/>
              </a:rPr>
              <a:t>유료 (예정)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54680" y="2194560"/>
            <a:ext cx="7040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5202B"/>
                </a:solidFill>
                <a:latin typeface="Calibri"/>
              </a:rPr>
              <a:t>위성 전체 목록·궤도 추적선, 관심 지점 알림 20곳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69880" y="219456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5202B"/>
                </a:solidFill>
                <a:latin typeface="Calibri"/>
              </a:rPr>
              <a:t>개발 완료 · 판매 미개시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2633472"/>
            <a:ext cx="10637215" cy="530352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2724912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F2647"/>
                </a:solidFill>
                <a:latin typeface="Calibri"/>
              </a:rPr>
              <a:t>유료 (준비 중)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54680" y="2724912"/>
            <a:ext cx="7040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5202B"/>
                </a:solidFill>
                <a:latin typeface="Calibri"/>
              </a:rPr>
              <a:t>되감기·이력 조회, 항공기·선박 실시간 위치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69880" y="2724912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5202B"/>
                </a:solidFill>
                <a:latin typeface="Calibri"/>
              </a:rPr>
              <a:t>자료 축적·데이터 구매 필요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3328416"/>
            <a:ext cx="106372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C6B7A"/>
                </a:solidFill>
                <a:latin typeface="Calibri"/>
              </a:rPr>
              <a:t>※ ⚠️ 안전 정보에는 값을 매기지 않는다는 원칙을 두고 있습니다. 개인 구독 월 5,900원 / 연 49,000원 기준이나 최종 확정 전이며, 사전등록 선착순 500명에게는 정가의 50%를 적용합니다.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earthus-lockup-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497224"/>
            <a:ext cx="1051560" cy="230847"/>
          </a:xfrm>
          <a:prstGeom prst="rect">
            <a:avLst/>
          </a:prstGeom>
        </p:spPr>
      </p:pic>
      <p:sp>
        <p:nvSpPr>
          <p:cNvPr id="3" name="Oval 2"/>
          <p:cNvSpPr/>
          <p:nvPr/>
        </p:nvSpPr>
        <p:spPr>
          <a:xfrm>
            <a:off x="777240" y="457200"/>
            <a:ext cx="457200" cy="457200"/>
          </a:xfrm>
          <a:prstGeom prst="ellipse">
            <a:avLst/>
          </a:prstGeom>
          <a:solidFill>
            <a:srgbClr val="0F26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99032" y="457200"/>
            <a:ext cx="10015423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F2647"/>
                </a:solidFill>
                <a:latin typeface="Calibri"/>
              </a:rPr>
              <a:t>로드맵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042415"/>
            <a:ext cx="10637215" cy="16459"/>
          </a:xfrm>
          <a:prstGeom prst="rect">
            <a:avLst/>
          </a:prstGeom>
          <a:solidFill>
            <a:srgbClr val="D9E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18872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F5C8B"/>
                </a:solidFill>
                <a:latin typeface="Calibri"/>
              </a:rPr>
              <a:t>아래는 목표치가 아니라 가정과 계산식입니다.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572768"/>
            <a:ext cx="10637215" cy="365760"/>
          </a:xfrm>
          <a:prstGeom prst="rect">
            <a:avLst/>
          </a:prstGeom>
          <a:solidFill>
            <a:srgbClr val="0F26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3544" y="1645920"/>
            <a:ext cx="1517904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Calibri"/>
              </a:rPr>
              <a:t>시기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60904" y="1645920"/>
            <a:ext cx="3072384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Calibri"/>
              </a:rPr>
              <a:t>데이터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52744" y="1645920"/>
            <a:ext cx="2980944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Calibri"/>
              </a:rPr>
              <a:t>서비스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53144" y="1645920"/>
            <a:ext cx="3803904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Calibri"/>
              </a:rPr>
              <a:t>수익 (가정)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1938528"/>
            <a:ext cx="10637215" cy="82296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3544" y="2029968"/>
            <a:ext cx="1517904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0F2647"/>
                </a:solidFill>
                <a:latin typeface="Calibri"/>
              </a:rPr>
              <a:t>2026년 하반기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60904" y="2029968"/>
            <a:ext cx="3072384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5202B"/>
                </a:solidFill>
                <a:latin typeface="Calibri"/>
              </a:rPr>
              <a:t>검증 아카이브 100일치 축적, 변수 확대(강수·습도·일사)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52744" y="2029968"/>
            <a:ext cx="2980944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5202B"/>
                </a:solidFill>
                <a:latin typeface="Calibri"/>
              </a:rPr>
              <a:t>유료 기능 개시, 창립 멤버 500명 모집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53144" y="2029968"/>
            <a:ext cx="3803904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5202B"/>
                </a:solidFill>
                <a:latin typeface="Calibri"/>
              </a:rPr>
              <a:t>500명 × 연 24,500원 = 약 1,225만원 (전원 결제 가정 시)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44" y="2852928"/>
            <a:ext cx="1517904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0F2647"/>
                </a:solidFill>
                <a:latin typeface="Calibri"/>
              </a:rPr>
              <a:t>2027년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60904" y="2852928"/>
            <a:ext cx="3072384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5202B"/>
                </a:solidFill>
                <a:latin typeface="Calibri"/>
              </a:rPr>
              <a:t>검증 아카이브 1년치(계절 4개 확보), 모델 확대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52744" y="2852928"/>
            <a:ext cx="2980944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5202B"/>
                </a:solidFill>
                <a:latin typeface="Calibri"/>
              </a:rPr>
              <a:t>되감기·이력 개시, 산업용 API 제공 검토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53144" y="2852928"/>
            <a:ext cx="3803904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5202B"/>
                </a:solidFill>
                <a:latin typeface="Calibri"/>
              </a:rPr>
              <a:t>개인 구독 + 기업 데이터 제공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3584448"/>
            <a:ext cx="10637215" cy="82296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3544" y="3675887"/>
            <a:ext cx="1517904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0F2647"/>
                </a:solidFill>
                <a:latin typeface="Calibri"/>
              </a:rPr>
              <a:t>2028년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60904" y="3675887"/>
            <a:ext cx="3072384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5202B"/>
                </a:solidFill>
                <a:latin typeface="Calibri"/>
              </a:rPr>
              <a:t>2년치 축적 — 전년 동기 비교 가능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52744" y="3675887"/>
            <a:ext cx="2980944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5202B"/>
                </a:solidFill>
                <a:latin typeface="Calibri"/>
              </a:rPr>
              <a:t>기상 AI 모델 학습·평가 착수, 해외 지역 확대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53144" y="3675887"/>
            <a:ext cx="3803904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5202B"/>
                </a:solidFill>
                <a:latin typeface="Calibri"/>
              </a:rPr>
              <a:t>［작성 필요］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" y="4553712"/>
            <a:ext cx="10637215" cy="457200"/>
          </a:xfrm>
          <a:prstGeom prst="rect">
            <a:avLst/>
          </a:prstGeom>
          <a:solidFill>
            <a:srgbClr val="FDF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77240" y="4553712"/>
            <a:ext cx="41148" cy="457200"/>
          </a:xfrm>
          <a:prstGeom prst="rect">
            <a:avLst/>
          </a:prstGeom>
          <a:solidFill>
            <a:srgbClr val="B56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96695" y="4672584"/>
            <a:ext cx="10234879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5620A"/>
                </a:solidFill>
                <a:latin typeface="Calibri"/>
              </a:rPr>
              <a:t>⚠  검증 아카이브는 2026-07-26 시작으로 현재 11일치입니다. 계절 단위 분석은 자료가 쌓이는 시간을 기다려야 하며, 앞당길 방법이 없습니다.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earthus-lockup-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497224"/>
            <a:ext cx="1051560" cy="230847"/>
          </a:xfrm>
          <a:prstGeom prst="rect">
            <a:avLst/>
          </a:prstGeom>
        </p:spPr>
      </p:pic>
      <p:sp>
        <p:nvSpPr>
          <p:cNvPr id="3" name="Oval 2"/>
          <p:cNvSpPr/>
          <p:nvPr/>
        </p:nvSpPr>
        <p:spPr>
          <a:xfrm>
            <a:off x="777240" y="457200"/>
            <a:ext cx="457200" cy="457200"/>
          </a:xfrm>
          <a:prstGeom prst="ellipse">
            <a:avLst/>
          </a:prstGeom>
          <a:solidFill>
            <a:srgbClr val="0F26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99032" y="457200"/>
            <a:ext cx="10015423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F2647"/>
                </a:solidFill>
                <a:latin typeface="Calibri"/>
              </a:rPr>
              <a:t>기대효과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042415"/>
            <a:ext cx="10637215" cy="16459"/>
          </a:xfrm>
          <a:prstGeom prst="rect">
            <a:avLst/>
          </a:prstGeom>
          <a:solidFill>
            <a:srgbClr val="D9E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188720"/>
            <a:ext cx="10637215" cy="512064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96695" y="1408176"/>
            <a:ext cx="91440" cy="91440"/>
          </a:xfrm>
          <a:prstGeom prst="ellipse">
            <a:avLst/>
          </a:prstGeom>
          <a:solidFill>
            <a:srgbClr val="1F5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52728" y="1307592"/>
            <a:ext cx="990569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100" b="1">
                <a:solidFill>
                  <a:srgbClr val="15202B"/>
                </a:solidFill>
                <a:latin typeface="Calibri"/>
              </a:rPr>
              <a:t>공공데이터 신뢰도의 가시화</a:t>
            </a:r>
            <a:r>
              <a:rPr sz="950">
                <a:solidFill>
                  <a:srgbClr val="5C6B7A"/>
                </a:solidFill>
                <a:latin typeface="Calibri"/>
              </a:rPr>
              <a:t>  —  값과 함께 그 값의 오차 이력을 공개적으로 보여줍니다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773936"/>
            <a:ext cx="10637215" cy="512064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96695" y="1993391"/>
            <a:ext cx="91440" cy="91440"/>
          </a:xfrm>
          <a:prstGeom prst="ellipse">
            <a:avLst/>
          </a:prstGeom>
          <a:solidFill>
            <a:srgbClr val="1F5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52728" y="1892807"/>
            <a:ext cx="990569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100" b="1">
                <a:solidFill>
                  <a:srgbClr val="15202B"/>
                </a:solidFill>
                <a:latin typeface="Calibri"/>
              </a:rPr>
              <a:t>기상 AI 학습·평가 기반 조성</a:t>
            </a:r>
            <a:r>
              <a:rPr sz="950">
                <a:solidFill>
                  <a:srgbClr val="5C6B7A"/>
                </a:solidFill>
                <a:latin typeface="Calibri"/>
              </a:rPr>
              <a:t>  —  예보-실측 쌍은 기상 AI 학습에 필요한 정답지입니다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359152"/>
            <a:ext cx="10637215" cy="512064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96695" y="2578608"/>
            <a:ext cx="91440" cy="91440"/>
          </a:xfrm>
          <a:prstGeom prst="ellipse">
            <a:avLst/>
          </a:prstGeom>
          <a:solidFill>
            <a:srgbClr val="1F5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52728" y="2478024"/>
            <a:ext cx="990569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100" b="1">
                <a:solidFill>
                  <a:srgbClr val="15202B"/>
                </a:solidFill>
                <a:latin typeface="Calibri"/>
              </a:rPr>
              <a:t>산업 활용</a:t>
            </a:r>
            <a:r>
              <a:rPr sz="950">
                <a:solidFill>
                  <a:srgbClr val="5C6B7A"/>
                </a:solidFill>
                <a:latin typeface="Calibri"/>
              </a:rPr>
              <a:t>  —  발전량 예측, 해상 작업 판단 등 예보 오차가 곧 비용인 분야에 활용 가능합니다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2944368"/>
            <a:ext cx="10637215" cy="512064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96695" y="3163824"/>
            <a:ext cx="91440" cy="91440"/>
          </a:xfrm>
          <a:prstGeom prst="ellipse">
            <a:avLst/>
          </a:prstGeom>
          <a:solidFill>
            <a:srgbClr val="1F5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52728" y="3063240"/>
            <a:ext cx="990569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100" b="1">
                <a:solidFill>
                  <a:srgbClr val="15202B"/>
                </a:solidFill>
                <a:latin typeface="Calibri"/>
              </a:rPr>
              <a:t>교육 활용</a:t>
            </a:r>
            <a:r>
              <a:rPr sz="950">
                <a:solidFill>
                  <a:srgbClr val="5C6B7A"/>
                </a:solidFill>
                <a:latin typeface="Calibri"/>
              </a:rPr>
              <a:t>  —  태풍이 왜 생기는지, 왜 기관마다 다르게 말하는지 지구본으로 이해하게 합니다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3529584"/>
            <a:ext cx="10637215" cy="512064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96695" y="3749040"/>
            <a:ext cx="91440" cy="91440"/>
          </a:xfrm>
          <a:prstGeom prst="ellipse">
            <a:avLst/>
          </a:prstGeom>
          <a:solidFill>
            <a:srgbClr val="1F5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52728" y="3648456"/>
            <a:ext cx="990569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100" b="1">
                <a:solidFill>
                  <a:srgbClr val="15202B"/>
                </a:solidFill>
                <a:latin typeface="Calibri"/>
              </a:rPr>
              <a:t>공공데이터 활용 저변 확대</a:t>
            </a:r>
            <a:r>
              <a:rPr sz="950">
                <a:solidFill>
                  <a:srgbClr val="5C6B7A"/>
                </a:solidFill>
                <a:latin typeface="Calibri"/>
              </a:rPr>
              <a:t>  —  개인 개발자도 서버리스 구조로 다기관 데이터를 통합할 수 있음을 보이는 사례입니다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64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01-typhoon-glob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0610" y="0"/>
            <a:ext cx="489108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5852160" cy="6858000"/>
          </a:xfrm>
          <a:prstGeom prst="rect">
            <a:avLst/>
          </a:prstGeom>
          <a:solidFill>
            <a:srgbClr val="0F26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640080"/>
            <a:ext cx="5029200" cy="5577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180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공공데이터로 만드는 한국형 3D 지구 서비스</a:t>
            </a:r>
          </a:p>
          <a:p>
            <a:pPr>
              <a:lnSpc>
                <a:spcPct val="17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D6E2EC"/>
                </a:solidFill>
                <a:latin typeface="Calibri"/>
              </a:rPr>
              <a:t>earthus 는 기상정보만 보여주는 서비스로 남을 생각이 없습니다.
지금 하는 일은 바탕을 쌓는 일입니다. 18개 기관의 공공데이터를 매시간 모으고, 사라지는 예보를 보존하고, 그것을 지구 위에 얹어 사람이 볼 수 있게 만드는 일입니다.
그 위에 AI를 올리는 것을 고민하고 있습니다. 지금은 모델이 없습니다. 다만 순서를 그렇게 잡았습니다 — 먼저 채점표를 만들고, 그 다음에 선수를 키웁니다. 이번 지원사업이 그 다음 단계로 가는 발판이 되기를 바랍니다.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