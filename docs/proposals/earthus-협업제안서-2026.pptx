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45"/>
    <p:restoredTop sz="94664"/>
  </p:normalViewPr>
  <p:slideViewPr>
    <p:cSldViewPr snapToGrid="0" snapToObjects="1">
      <p:cViewPr varScale="1">
        <p:scale>
          <a:sx n="165" d="100"/>
          <a:sy n="165" d="100"/>
        </p:scale>
        <p:origin x="240" y="8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lobe-cyc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0"/>
            <a:ext cx="1020725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39" y="2840441"/>
            <a:ext cx="4754880" cy="20892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endParaRPr lang="en-US" sz="4000" b="1" dirty="0">
              <a:solidFill>
                <a:srgbClr val="F2F5F8"/>
              </a:solidFill>
              <a:latin typeface="Calibri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lang="ko-KR" altLang="en-US" sz="4000" b="1" dirty="0">
                <a:solidFill>
                  <a:srgbClr val="F2F5F8"/>
                </a:solidFill>
                <a:latin typeface="Calibri"/>
              </a:rPr>
              <a:t>협업제안서</a:t>
            </a:r>
          </a:p>
          <a:p>
            <a:pPr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1150" b="0" dirty="0">
                <a:solidFill>
                  <a:srgbClr val="8A97A8"/>
                </a:solidFill>
                <a:latin typeface="Calibri"/>
              </a:rPr>
              <a:t>SK</a:t>
            </a:r>
            <a:r>
              <a:rPr lang="ko-KR" altLang="en-US" sz="1150" b="0" dirty="0">
                <a:solidFill>
                  <a:srgbClr val="8A97A8"/>
                </a:solidFill>
                <a:latin typeface="Calibri"/>
              </a:rPr>
              <a:t>텔레콤 </a:t>
            </a:r>
            <a:r>
              <a:rPr lang="en-US" altLang="ko-KR" sz="1150" b="0" dirty="0">
                <a:solidFill>
                  <a:srgbClr val="8A97A8"/>
                </a:solidFill>
                <a:latin typeface="Calibri"/>
              </a:rPr>
              <a:t>· </a:t>
            </a:r>
            <a:r>
              <a:rPr lang="en" sz="1150" b="0" dirty="0">
                <a:solidFill>
                  <a:srgbClr val="8A97A8"/>
                </a:solidFill>
                <a:latin typeface="Calibri"/>
              </a:rPr>
              <a:t>LS ELECTRIC · </a:t>
            </a:r>
            <a:r>
              <a:rPr lang="ko-KR" altLang="en-US" sz="1150" b="0" dirty="0" err="1">
                <a:solidFill>
                  <a:srgbClr val="8A97A8"/>
                </a:solidFill>
                <a:latin typeface="Calibri"/>
              </a:rPr>
              <a:t>두산에너빌리티</a:t>
            </a:r>
            <a:r>
              <a:rPr lang="ko-KR" altLang="en-US" sz="1150" b="0" dirty="0">
                <a:solidFill>
                  <a:srgbClr val="8A97A8"/>
                </a:solidFill>
                <a:latin typeface="Calibri"/>
              </a:rPr>
              <a:t>   </a:t>
            </a:r>
            <a:r>
              <a:rPr lang="en-US" altLang="ko-KR" sz="1150" b="0" dirty="0">
                <a:solidFill>
                  <a:srgbClr val="8A97A8"/>
                </a:solidFill>
                <a:latin typeface="Calibri"/>
              </a:rPr>
              <a:t>|   </a:t>
            </a:r>
            <a:r>
              <a:rPr lang="ko-KR" altLang="en-US" sz="1150" b="0" dirty="0" err="1">
                <a:solidFill>
                  <a:srgbClr val="8A97A8"/>
                </a:solidFill>
                <a:latin typeface="Calibri"/>
              </a:rPr>
              <a:t>달루어</a:t>
            </a:r>
            <a:r>
              <a:rPr lang="ko-KR" altLang="en-US" sz="1150" b="0" dirty="0">
                <a:solidFill>
                  <a:srgbClr val="8A97A8"/>
                </a:solidFill>
                <a:latin typeface="Calibri"/>
              </a:rPr>
              <a:t> </a:t>
            </a:r>
            <a:r>
              <a:rPr lang="en-US" altLang="ko-KR" sz="1150" b="0" dirty="0">
                <a:solidFill>
                  <a:srgbClr val="8A97A8"/>
                </a:solidFill>
                <a:latin typeface="Calibri"/>
              </a:rPr>
              <a:t>· 2026</a:t>
            </a:r>
            <a:r>
              <a:rPr lang="ko-KR" altLang="en-US" sz="1150" b="0" dirty="0">
                <a:solidFill>
                  <a:srgbClr val="8A97A8"/>
                </a:solidFill>
                <a:latin typeface="Calibri"/>
              </a:rPr>
              <a:t>년 </a:t>
            </a:r>
            <a:r>
              <a:rPr lang="en-US" altLang="ko-KR" sz="1150" b="0" dirty="0">
                <a:solidFill>
                  <a:srgbClr val="8A97A8"/>
                </a:solidFill>
                <a:latin typeface="Calibri"/>
              </a:rPr>
              <a:t>8</a:t>
            </a:r>
            <a:r>
              <a:rPr lang="ko-KR" altLang="en-US" sz="1150" b="0" dirty="0">
                <a:solidFill>
                  <a:srgbClr val="8A97A8"/>
                </a:solidFill>
                <a:latin typeface="Calibri"/>
              </a:rPr>
              <a:t>월</a:t>
            </a: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BF8CC1B7-6CBF-FD11-C87C-1EEB33DA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080" y="2251882"/>
            <a:ext cx="4107999" cy="11771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446EDA-D93B-78DF-49C6-BBB10F6303A2}"/>
              </a:ext>
            </a:extLst>
          </p:cNvPr>
          <p:cNvSpPr txBox="1"/>
          <p:nvPr/>
        </p:nvSpPr>
        <p:spPr>
          <a:xfrm>
            <a:off x="822960" y="1884811"/>
            <a:ext cx="4754880" cy="10951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dirty="0" err="1">
                <a:solidFill>
                  <a:srgbClr val="3FC7C0"/>
                </a:solidFill>
                <a:latin typeface="Calibri"/>
              </a:rPr>
              <a:t>서울창조경제혁신센터</a:t>
            </a:r>
            <a:r>
              <a:rPr sz="1200" b="1" dirty="0">
                <a:solidFill>
                  <a:srgbClr val="3FC7C0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3FC7C0"/>
                </a:solidFill>
                <a:latin typeface="Calibri"/>
              </a:rPr>
              <a:t>오픈</a:t>
            </a:r>
            <a:r>
              <a:rPr sz="1200" b="1" dirty="0">
                <a:solidFill>
                  <a:srgbClr val="3FC7C0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3FC7C0"/>
                </a:solidFill>
                <a:latin typeface="Calibri"/>
              </a:rPr>
              <a:t>이노베이션</a:t>
            </a:r>
            <a:r>
              <a:rPr sz="1200" b="1" dirty="0">
                <a:solidFill>
                  <a:srgbClr val="3FC7C0"/>
                </a:solidFill>
                <a:latin typeface="Calibri"/>
              </a:rPr>
              <a:t> 2026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endParaRPr lang="en-US" sz="4000" b="1" dirty="0">
              <a:solidFill>
                <a:srgbClr val="F2F5F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52020"/>
            <a:ext cx="10545775" cy="27539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200"/>
              </a:spcAft>
            </a:pPr>
            <a:r>
              <a:rPr sz="3600" b="1" dirty="0" err="1">
                <a:solidFill>
                  <a:srgbClr val="F2F5F8"/>
                </a:solidFill>
                <a:latin typeface="Calibri"/>
              </a:rPr>
              <a:t>예보는</a:t>
            </a:r>
            <a:r>
              <a:rPr sz="3600" b="1" dirty="0">
                <a:solidFill>
                  <a:srgbClr val="F2F5F8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2F5F8"/>
                </a:solidFill>
                <a:latin typeface="Calibri"/>
              </a:rPr>
              <a:t>발표되고</a:t>
            </a:r>
            <a:r>
              <a:rPr sz="3600" b="1" dirty="0">
                <a:solidFill>
                  <a:srgbClr val="F2F5F8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2F5F8"/>
                </a:solidFill>
                <a:latin typeface="Calibri"/>
              </a:rPr>
              <a:t>사라집니다</a:t>
            </a:r>
            <a:r>
              <a:rPr sz="3600" b="1" dirty="0">
                <a:solidFill>
                  <a:srgbClr val="F2F5F8"/>
                </a:solidFill>
                <a:latin typeface="Calibri"/>
              </a:rPr>
              <a:t>.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2600"/>
              </a:spcAft>
            </a:pPr>
            <a:r>
              <a:rPr lang="ko-KR" altLang="en-US" sz="1800" b="0" dirty="0">
                <a:solidFill>
                  <a:srgbClr val="3FC7C0"/>
                </a:solidFill>
                <a:latin typeface="Calibri"/>
              </a:rPr>
              <a:t>                         </a:t>
            </a:r>
            <a:r>
              <a:rPr sz="1800" b="0" dirty="0">
                <a:solidFill>
                  <a:srgbClr val="3FC7C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FC7C0"/>
                </a:solidFill>
                <a:latin typeface="Calibri"/>
              </a:rPr>
              <a:t>는</a:t>
            </a:r>
            <a:r>
              <a:rPr sz="1800" b="0" dirty="0">
                <a:solidFill>
                  <a:srgbClr val="3FC7C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FC7C0"/>
                </a:solidFill>
                <a:latin typeface="Calibri"/>
              </a:rPr>
              <a:t>한·일·영·미</a:t>
            </a:r>
            <a:r>
              <a:rPr sz="1800" b="0" dirty="0">
                <a:solidFill>
                  <a:srgbClr val="3FC7C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FC7C0"/>
                </a:solidFill>
                <a:latin typeface="Calibri"/>
              </a:rPr>
              <a:t>기상청</a:t>
            </a:r>
            <a:r>
              <a:rPr sz="1800" b="0" dirty="0">
                <a:solidFill>
                  <a:srgbClr val="3FC7C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FC7C0"/>
                </a:solidFill>
                <a:latin typeface="Calibri"/>
              </a:rPr>
              <a:t>예보를</a:t>
            </a:r>
            <a:r>
              <a:rPr sz="1800" b="0" dirty="0">
                <a:solidFill>
                  <a:srgbClr val="3FC7C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FC7C0"/>
                </a:solidFill>
                <a:latin typeface="Calibri"/>
              </a:rPr>
              <a:t>매시간</a:t>
            </a:r>
            <a:r>
              <a:rPr sz="1800" b="0" dirty="0">
                <a:solidFill>
                  <a:srgbClr val="3FC7C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FC7C0"/>
                </a:solidFill>
                <a:latin typeface="Calibri"/>
              </a:rPr>
              <a:t>박제해</a:t>
            </a:r>
            <a:r>
              <a:rPr sz="1800" b="0" dirty="0">
                <a:solidFill>
                  <a:srgbClr val="3FC7C0"/>
                </a:solidFill>
                <a:latin typeface="Calibri"/>
              </a:rPr>
              <a:t>,
</a:t>
            </a:r>
            <a:r>
              <a:rPr sz="1800" b="0" dirty="0" err="1">
                <a:solidFill>
                  <a:srgbClr val="3FC7C0"/>
                </a:solidFill>
                <a:latin typeface="Calibri"/>
              </a:rPr>
              <a:t>무엇이</a:t>
            </a:r>
            <a:r>
              <a:rPr sz="1800" b="0" dirty="0">
                <a:solidFill>
                  <a:srgbClr val="3FC7C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FC7C0"/>
                </a:solidFill>
                <a:latin typeface="Calibri"/>
              </a:rPr>
              <a:t>맞고</a:t>
            </a:r>
            <a:r>
              <a:rPr sz="1800" b="0" dirty="0">
                <a:solidFill>
                  <a:srgbClr val="3FC7C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FC7C0"/>
                </a:solidFill>
                <a:latin typeface="Calibri"/>
              </a:rPr>
              <a:t>틀렸는지를</a:t>
            </a:r>
            <a:r>
              <a:rPr sz="1800" b="0" dirty="0">
                <a:solidFill>
                  <a:srgbClr val="3FC7C0"/>
                </a:solidFill>
                <a:latin typeface="Calibri"/>
              </a:rPr>
              <a:t> 3D </a:t>
            </a:r>
            <a:r>
              <a:rPr sz="1800" b="0" dirty="0" err="1">
                <a:solidFill>
                  <a:srgbClr val="3FC7C0"/>
                </a:solidFill>
                <a:latin typeface="Calibri"/>
              </a:rPr>
              <a:t>지구본</a:t>
            </a:r>
            <a:r>
              <a:rPr sz="1800" b="0" dirty="0">
                <a:solidFill>
                  <a:srgbClr val="3FC7C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FC7C0"/>
                </a:solidFill>
                <a:latin typeface="Calibri"/>
              </a:rPr>
              <a:t>위에서</a:t>
            </a:r>
            <a:r>
              <a:rPr sz="1800" b="0" dirty="0">
                <a:solidFill>
                  <a:srgbClr val="3FC7C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FC7C0"/>
                </a:solidFill>
                <a:latin typeface="Calibri"/>
              </a:rPr>
              <a:t>보여줍니다</a:t>
            </a:r>
            <a:r>
              <a:rPr sz="1800" b="0" dirty="0">
                <a:solidFill>
                  <a:srgbClr val="3FC7C0"/>
                </a:solidFill>
                <a:latin typeface="Calibri"/>
              </a:rPr>
              <a:t>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8A97A8"/>
                </a:solidFill>
                <a:latin typeface="Calibri"/>
              </a:rPr>
              <a:t>2026년 8월 4일 </a:t>
            </a:r>
            <a:r>
              <a:rPr sz="1200" b="0" dirty="0" err="1">
                <a:solidFill>
                  <a:srgbClr val="8A97A8"/>
                </a:solidFill>
                <a:latin typeface="Calibri"/>
              </a:rPr>
              <a:t>정식</a:t>
            </a:r>
            <a:r>
              <a:rPr sz="1200" b="0" dirty="0">
                <a:solidFill>
                  <a:srgbClr val="8A97A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8A97A8"/>
                </a:solidFill>
                <a:latin typeface="Calibri"/>
              </a:rPr>
              <a:t>오픈</a:t>
            </a:r>
            <a:r>
              <a:rPr sz="1200" b="0" dirty="0">
                <a:solidFill>
                  <a:srgbClr val="8A97A8"/>
                </a:solidFill>
                <a:latin typeface="Calibri"/>
              </a:rPr>
              <a:t> · </a:t>
            </a:r>
            <a:r>
              <a:rPr sz="1200" b="0" dirty="0" err="1">
                <a:solidFill>
                  <a:srgbClr val="8A97A8"/>
                </a:solidFill>
                <a:latin typeface="Calibri"/>
              </a:rPr>
              <a:t>earthus.net</a:t>
            </a:r>
            <a:r>
              <a:rPr sz="1200" b="0" dirty="0">
                <a:solidFill>
                  <a:srgbClr val="8A97A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8A97A8"/>
                </a:solidFill>
                <a:latin typeface="Calibri"/>
              </a:rPr>
              <a:t>운영</a:t>
            </a:r>
            <a:r>
              <a:rPr sz="1200" b="0" dirty="0">
                <a:solidFill>
                  <a:srgbClr val="8A97A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8A97A8"/>
                </a:solidFill>
                <a:latin typeface="Calibri"/>
              </a:rPr>
              <a:t>중</a:t>
            </a:r>
            <a:endParaRPr sz="1200" b="0" dirty="0">
              <a:solidFill>
                <a:srgbClr val="8A97A8"/>
              </a:solidFill>
              <a:latin typeface="Calibri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373D45C5-411B-A95D-E9D3-9AB11AAE5E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8041" y="2938381"/>
            <a:ext cx="1529053" cy="6417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" y="475488"/>
            <a:ext cx="420624" cy="420624"/>
          </a:xfrm>
          <a:prstGeom prst="ellipse">
            <a:avLst/>
          </a:prstGeom>
          <a:noFill/>
          <a:ln w="15240">
            <a:solidFill>
              <a:srgbClr val="3F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4752" y="457200"/>
            <a:ext cx="9923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F5F8"/>
                </a:solidFill>
                <a:latin typeface="Calibri"/>
              </a:rPr>
              <a:t>가진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42415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7A8"/>
                </a:solidFill>
                <a:latin typeface="Calibri"/>
              </a:rPr>
              <a:t>숫자는 전부 2026년 8월 6일 실측입니다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2430703" cy="1874519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1755648"/>
            <a:ext cx="188206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000" b="1">
                <a:solidFill>
                  <a:srgbClr val="3FC7C0"/>
                </a:solidFill>
                <a:latin typeface="Calibri"/>
              </a:rPr>
              <a:t>54</a:t>
            </a:r>
            <a:r>
              <a:rPr sz="1500">
                <a:solidFill>
                  <a:srgbClr val="8A97A8"/>
                </a:solidFill>
                <a:latin typeface="Calibri"/>
              </a:rPr>
              <a:t> 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487168"/>
            <a:ext cx="188206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자료 수집 파이프라인
AWS Lambda · 자동 실행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7983" y="1481328"/>
            <a:ext cx="2430703" cy="1874519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20591" y="1755648"/>
            <a:ext cx="188206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000" b="1">
                <a:solidFill>
                  <a:srgbClr val="3FC7C0"/>
                </a:solidFill>
                <a:latin typeface="Calibri"/>
              </a:rPr>
              <a:t>18</a:t>
            </a:r>
            <a:r>
              <a:rPr sz="1500">
                <a:solidFill>
                  <a:srgbClr val="8A97A8"/>
                </a:solidFill>
                <a:latin typeface="Calibri"/>
              </a:rPr>
              <a:t> 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0591" y="2487168"/>
            <a:ext cx="188206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자료 출처 기관
4개국 기상청 포함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481328"/>
            <a:ext cx="2430703" cy="1874519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5615" y="1755648"/>
            <a:ext cx="188206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000" b="1">
                <a:solidFill>
                  <a:srgbClr val="3FC7C0"/>
                </a:solidFill>
                <a:latin typeface="Calibri"/>
              </a:rPr>
              <a:t>58</a:t>
            </a:r>
            <a:r>
              <a:rPr sz="1500">
                <a:solidFill>
                  <a:srgbClr val="8A97A8"/>
                </a:solidFill>
                <a:latin typeface="Calibri"/>
              </a:rPr>
              <a:t> 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5615" y="2487168"/>
            <a:ext cx="188206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지구본 레이어
7가지 표현 방식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8031" y="1481328"/>
            <a:ext cx="2430703" cy="1874519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0639" y="1755648"/>
            <a:ext cx="188206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000" b="1">
                <a:solidFill>
                  <a:srgbClr val="3FC7C0"/>
                </a:solidFill>
                <a:latin typeface="Calibri"/>
              </a:rPr>
              <a:t>10.2</a:t>
            </a:r>
            <a:r>
              <a:rPr sz="1500">
                <a:solidFill>
                  <a:srgbClr val="8A97A8"/>
                </a:solidFill>
                <a:latin typeface="Calibri"/>
              </a:rPr>
              <a:t>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0639" y="2487168"/>
            <a:ext cx="188206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하루 축적량
11일 연속 편차 3% 이내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" y="3547870"/>
            <a:ext cx="10545775" cy="507492"/>
          </a:xfrm>
          <a:prstGeom prst="rect">
            <a:avLst/>
          </a:prstGeom>
          <a:solidFill>
            <a:srgbClr val="1E1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675887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2F5F8"/>
                </a:solidFill>
                <a:latin typeface="Calibri"/>
              </a:rPr>
              <a:t>출처 18곳 — 기상청(ASOS·AWS·동네예보·특보·낙뢰·해양·고층), 일본 기상청(AMeDAS·경보),
NOAA(GMGSI 구름합성 · NDBC/OSMC 부이 · SWPC 우주기상 · METAR · NWS 쓰나미),
NASA(GIBS 위성타일 · FIRMS 화재), ECMWF, Copernicus CAMS, USGS 지진, GDACS 재난,
GDELT 사건, Celestrak 위성궤도, Open-Meteo, 해양수산부(KHOA), 산림청, 영국 기상청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38" y="3547870"/>
            <a:ext cx="45720" cy="507492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" y="475488"/>
            <a:ext cx="420624" cy="420624"/>
          </a:xfrm>
          <a:prstGeom prst="ellipse">
            <a:avLst/>
          </a:prstGeom>
          <a:noFill/>
          <a:ln w="15240">
            <a:solidFill>
              <a:srgbClr val="3F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4752" y="457200"/>
            <a:ext cx="9923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F5F8"/>
                </a:solidFill>
                <a:latin typeface="Calibri"/>
              </a:rPr>
              <a:t>네 나라에서 모으고 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10545775" cy="457200"/>
          </a:xfrm>
          <a:prstGeom prst="rect">
            <a:avLst/>
          </a:prstGeom>
          <a:solidFill>
            <a:srgbClr val="17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17957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나라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179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수집기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3008" y="1179576"/>
            <a:ext cx="780257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무엇을 받는가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08760"/>
            <a:ext cx="10545775" cy="566928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682495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한국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682495"/>
            <a:ext cx="82295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15개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1682495"/>
            <a:ext cx="780257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기상청 ASOS·AWS·동네예보·특보·낙뢰·해양·고층, 해양수산부 조위, 산림청 산불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249424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일본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249424"/>
            <a:ext cx="82295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3개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249424"/>
            <a:ext cx="780257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일본 기상청 AMeDAS 실황, 기상경보, 지명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642616"/>
            <a:ext cx="10545775" cy="566928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281635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영국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816352"/>
            <a:ext cx="82295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1개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816352"/>
            <a:ext cx="780257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영국 기상청(Met Office) DataHub 지점예보 48시간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38328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미국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3383280"/>
            <a:ext cx="82295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7개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3383280"/>
            <a:ext cx="780257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NOAA(구름합성·부이·우주기상·METAR·쓰나미), NASA(위성타일·화재), USGS 지진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776472"/>
            <a:ext cx="10545775" cy="676656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3950208"/>
            <a:ext cx="1097280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국제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3950208"/>
            <a:ext cx="822959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나머지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3950208"/>
            <a:ext cx="7802575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ECMWF, Copernicus CAMS, GDACS, GDELT, Celestrak, Open-Meteo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90872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FC7C0"/>
                </a:solidFill>
                <a:latin typeface="Calibri"/>
              </a:rPr>
              <a:t>한 나라만 보면 그 나라 모델이 옳은지 알 수 없습니다.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" y="475488"/>
            <a:ext cx="420624" cy="420624"/>
          </a:xfrm>
          <a:prstGeom prst="ellipse">
            <a:avLst/>
          </a:prstGeom>
          <a:noFill/>
          <a:ln w="15240">
            <a:solidFill>
              <a:srgbClr val="3F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4752" y="457200"/>
            <a:ext cx="9923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F5F8"/>
                </a:solidFill>
                <a:latin typeface="Calibri"/>
              </a:rPr>
              <a:t>"보여준다"가 무슨 뜻인가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7A8"/>
                </a:solidFill>
                <a:latin typeface="Calibri"/>
              </a:rPr>
              <a:t>저희가 파는 것은 자료가 아니라 자료를 보이게 만드는 방법입니다.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0545775" cy="457200"/>
          </a:xfrm>
          <a:prstGeom prst="rect">
            <a:avLst/>
          </a:prstGeom>
          <a:solidFill>
            <a:srgbClr val="17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636776"/>
            <a:ext cx="1005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1636776"/>
            <a:ext cx="548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개수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1636776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무엇을 그리나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7" y="1636776"/>
            <a:ext cx="496793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지금 쓰는 예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10545775" cy="566928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139696"/>
            <a:ext cx="100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격자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2139696"/>
            <a:ext cx="5486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13969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값을 색으로 칠한 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7" y="2139696"/>
            <a:ext cx="49679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기온·풍속·파고·대기질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706624"/>
            <a:ext cx="100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위성영상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2706624"/>
            <a:ext cx="5486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2706624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영상을 지구 표면에 입힘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7" y="2706624"/>
            <a:ext cx="49679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천리안2A·히마와리·수오미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099816"/>
            <a:ext cx="10545775" cy="566928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3273552"/>
            <a:ext cx="100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지점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3273552"/>
            <a:ext cx="5486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7248" y="3273552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관측소를 점으로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7" y="3273552"/>
            <a:ext cx="49679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ASOS·AMeDAS·부이·조위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840480"/>
            <a:ext cx="100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사건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3840480"/>
            <a:ext cx="5486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384048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일어난 일을 표시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7" y="3840480"/>
            <a:ext cx="49679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지진·산불·낙뢰·재난경보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233672"/>
            <a:ext cx="10545775" cy="566928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4128" y="4407408"/>
            <a:ext cx="100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경로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04288" y="4407408"/>
            <a:ext cx="5486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407408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움직인 자취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7" y="4407408"/>
            <a:ext cx="49679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태풍 진로·철새·바다거북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974336"/>
            <a:ext cx="100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바람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4288" y="4974336"/>
            <a:ext cx="5486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7248" y="4974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입자 애니메이션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7" y="4974336"/>
            <a:ext cx="49679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전지구 바람 흐름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5367528"/>
            <a:ext cx="10545775" cy="566928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4128" y="5541264"/>
            <a:ext cx="100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관측범위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04288" y="5541264"/>
            <a:ext cx="5486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27248" y="5541264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어디까지 봤나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7" y="5541264"/>
            <a:ext cx="49679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위성 관측 영역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617220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FC7C0"/>
                </a:solidFill>
                <a:latin typeface="Calibri"/>
              </a:rPr>
              <a:t>위경도와 시각만 있으면 무엇이든 지구 위에 올릴 수 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" y="475488"/>
            <a:ext cx="420624" cy="420624"/>
          </a:xfrm>
          <a:prstGeom prst="ellipse">
            <a:avLst/>
          </a:prstGeom>
          <a:noFill/>
          <a:ln w="15240">
            <a:solidFill>
              <a:srgbClr val="3F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4752" y="457200"/>
            <a:ext cx="9923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F5F8"/>
                </a:solidFill>
                <a:latin typeface="Calibri"/>
              </a:rPr>
              <a:t>지구본 위 — 실제 화면</a:t>
            </a:r>
          </a:p>
        </p:txBody>
      </p:sp>
      <p:pic>
        <p:nvPicPr>
          <p:cNvPr id="4" name="Picture 3" descr="globe-gk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07008"/>
            <a:ext cx="5067147" cy="34044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830953"/>
            <a:ext cx="506714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C7C0"/>
                </a:solidFill>
                <a:latin typeface="Calibri"/>
              </a:rPr>
              <a:t>위성영상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78425"/>
            <a:ext cx="5067147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2F5F8"/>
                </a:solidFill>
                <a:latin typeface="Calibri"/>
              </a:rPr>
              <a:t>천리안2A 적외 11.2µm · 70~190°E
밤에도 구름이 보입니다</a:t>
            </a:r>
          </a:p>
        </p:txBody>
      </p:sp>
      <p:pic>
        <p:nvPicPr>
          <p:cNvPr id="7" name="Picture 6" descr="globe-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587" y="1207008"/>
            <a:ext cx="5067147" cy="34044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1587" y="4830953"/>
            <a:ext cx="506714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C7C0"/>
                </a:solidFill>
                <a:latin typeface="Calibri"/>
              </a:rPr>
              <a:t>격자 — 파고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1587" y="5178425"/>
            <a:ext cx="5067147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2F5F8"/>
                </a:solidFill>
                <a:latin typeface="Calibri"/>
              </a:rPr>
              <a:t>태풍 주변에서 파고가 오르고
너울이 퍼져 나가는 모습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" y="475488"/>
            <a:ext cx="420624" cy="420624"/>
          </a:xfrm>
          <a:prstGeom prst="ellipse">
            <a:avLst/>
          </a:prstGeom>
          <a:noFill/>
          <a:ln w="15240">
            <a:solidFill>
              <a:srgbClr val="3F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4752" y="457200"/>
            <a:ext cx="9923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F5F8"/>
                </a:solidFill>
                <a:latin typeface="Calibri"/>
              </a:rPr>
              <a:t>지구본 위 — 실제 화면</a:t>
            </a:r>
          </a:p>
        </p:txBody>
      </p:sp>
      <p:pic>
        <p:nvPicPr>
          <p:cNvPr id="4" name="Picture 3" descr="globe-ha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07008"/>
            <a:ext cx="5067147" cy="34044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830953"/>
            <a:ext cx="506714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C7C0"/>
                </a:solidFill>
                <a:latin typeface="Calibri"/>
              </a:rPr>
              <a:t>사건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78425"/>
            <a:ext cx="5067147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2F5F8"/>
                </a:solidFill>
                <a:latin typeface="Calibri"/>
              </a:rPr>
              <a:t>산불(주황 점)·지진·쓰나미를 한 화면에
오늘 시베리아 산불이 잡혀 있습니다</a:t>
            </a:r>
          </a:p>
        </p:txBody>
      </p:sp>
      <p:pic>
        <p:nvPicPr>
          <p:cNvPr id="7" name="Picture 6" descr="globe-cycl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587" y="1207008"/>
            <a:ext cx="5067147" cy="34044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1587" y="4830953"/>
            <a:ext cx="506714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C7C0"/>
                </a:solidFill>
                <a:latin typeface="Calibri"/>
              </a:rPr>
              <a:t>경로 + 위성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1587" y="5178425"/>
            <a:ext cx="5067147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2F5F8"/>
                </a:solidFill>
                <a:latin typeface="Calibri"/>
              </a:rPr>
              <a:t>천리안 영상 위에 태풍과 예상경로
기관별 경로를 겹쳐서 그대로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" y="475488"/>
            <a:ext cx="420624" cy="420624"/>
          </a:xfrm>
          <a:prstGeom prst="ellipse">
            <a:avLst/>
          </a:prstGeom>
          <a:noFill/>
          <a:ln w="15240">
            <a:solidFill>
              <a:srgbClr val="3F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4752" y="457200"/>
            <a:ext cx="9923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F5F8"/>
                </a:solidFill>
                <a:latin typeface="Calibri"/>
              </a:rPr>
              <a:t>차트로도 풉니다</a:t>
            </a:r>
          </a:p>
        </p:txBody>
      </p:sp>
      <p:pic>
        <p:nvPicPr>
          <p:cNvPr id="4" name="Picture 3" descr="page-verify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5257800" cy="50524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188720"/>
            <a:ext cx="4785055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/verify</a:t>
            </a:r>
          </a:p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2F5F8"/>
                </a:solidFill>
                <a:latin typeface="Calibri"/>
              </a:rPr>
              <a:t>GFS와 ECMWF 가 24시간 전에 내놓은 값을 기상청 ASOS 97지점 관측과 대조</a:t>
            </a:r>
          </a:p>
          <a:p>
            <a:pPr>
              <a:lnSpc>
                <a:spcPct val="135000"/>
              </a:lnSpc>
              <a:spcBef>
                <a:spcPts val="150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/research</a:t>
            </a:r>
          </a:p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2F5F8"/>
                </a:solidFill>
                <a:latin typeface="Calibri"/>
              </a:rPr>
              <a:t>지점·기간·변수를 골라 시계열과 분포를 뽑는 화면</a:t>
            </a:r>
          </a:p>
          <a:p>
            <a:pPr>
              <a:lnSpc>
                <a:spcPct val="135000"/>
              </a:lnSpc>
              <a:spcBef>
                <a:spcPts val="150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/station</a:t>
            </a:r>
          </a:p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2F5F8"/>
                </a:solidFill>
                <a:latin typeface="Calibri"/>
              </a:rPr>
              <a:t>관측소 한 곳을 깊게 보는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4297680"/>
            <a:ext cx="4785055" cy="507492"/>
          </a:xfrm>
          <a:prstGeom prst="rect">
            <a:avLst/>
          </a:prstGeom>
          <a:solidFill>
            <a:srgbClr val="1E1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0" y="4297680"/>
            <a:ext cx="45720" cy="507492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39712" y="4434840"/>
            <a:ext cx="4327855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C79A"/>
                </a:solidFill>
                <a:latin typeface="Calibri"/>
              </a:rPr>
              <a:t>⚠  화면의 집계는 현재 1일치입니다. 원본 아카이브는 7월 26일부터 쌓고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" y="475488"/>
            <a:ext cx="420624" cy="420624"/>
          </a:xfrm>
          <a:prstGeom prst="ellipse">
            <a:avLst/>
          </a:prstGeom>
          <a:noFill/>
          <a:ln w="15240">
            <a:solidFill>
              <a:srgbClr val="3F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4752" y="457200"/>
            <a:ext cx="9923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F5F8"/>
                </a:solidFill>
                <a:latin typeface="Calibri"/>
              </a:rPr>
              <a:t>핵심 자산 — 예보 검증 아카이브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42415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7A8"/>
                </a:solidFill>
                <a:latin typeface="Calibri"/>
              </a:rPr>
              <a:t>2026년 7월 26일부터 매시간 저장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2430703" cy="1874519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1755648"/>
            <a:ext cx="188206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000" b="1">
                <a:solidFill>
                  <a:srgbClr val="3FC7C0"/>
                </a:solidFill>
                <a:latin typeface="Calibri"/>
              </a:rPr>
              <a:t>97</a:t>
            </a:r>
            <a:r>
              <a:rPr sz="1500">
                <a:solidFill>
                  <a:srgbClr val="8A97A8"/>
                </a:solidFill>
                <a:latin typeface="Calibri"/>
              </a:rPr>
              <a:t> 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487168"/>
            <a:ext cx="188206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기상청 관측지점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7983" y="1481328"/>
            <a:ext cx="2430703" cy="1874519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20591" y="1755648"/>
            <a:ext cx="188206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000" b="1">
                <a:solidFill>
                  <a:srgbClr val="3FC7C0"/>
                </a:solidFill>
                <a:latin typeface="Calibri"/>
              </a:rPr>
              <a:t>2</a:t>
            </a:r>
            <a:r>
              <a:rPr sz="1500">
                <a:solidFill>
                  <a:srgbClr val="8A97A8"/>
                </a:solidFill>
                <a:latin typeface="Calibri"/>
              </a:rPr>
              <a:t> 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0591" y="2487168"/>
            <a:ext cx="188206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모델
GFS · ECMWF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481328"/>
            <a:ext cx="2430703" cy="1874519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5615" y="1755648"/>
            <a:ext cx="188206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000" b="1">
                <a:solidFill>
                  <a:srgbClr val="3FC7C0"/>
                </a:solidFill>
                <a:latin typeface="Calibri"/>
              </a:rPr>
              <a:t>72</a:t>
            </a:r>
            <a:r>
              <a:rPr sz="1500">
                <a:solidFill>
                  <a:srgbClr val="8A97A8"/>
                </a:solidFill>
                <a:latin typeface="Calibri"/>
              </a:rPr>
              <a:t>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5615" y="2487168"/>
            <a:ext cx="188206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예보 길이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8031" y="1481328"/>
            <a:ext cx="2430703" cy="1874519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0639" y="1755648"/>
            <a:ext cx="188206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000" b="1">
                <a:solidFill>
                  <a:srgbClr val="3FC7C0"/>
                </a:solidFill>
                <a:latin typeface="Calibri"/>
              </a:rPr>
              <a:t>11</a:t>
            </a:r>
            <a:r>
              <a:rPr sz="1500">
                <a:solidFill>
                  <a:srgbClr val="8A97A8"/>
                </a:solidFill>
                <a:latin typeface="Calibri"/>
              </a:rPr>
              <a:t> 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0639" y="2487168"/>
            <a:ext cx="188206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지금까지 쌓인 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75887"/>
            <a:ext cx="10545775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2F5F8"/>
                </a:solidFill>
                <a:latin typeface="Calibri"/>
              </a:rPr>
              <a:t>예보는 발표되고 사라집니다. 새 예보가 나오면 이전 예보는 덮어써집니다.
모델 정확도를 지역별·조건별로 따지려면 그 순간에 박제해 두는 수밖에 없습니다.
이 자산은 돈으로 살 수 없고 시간으로만 만들어집니다.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" y="475488"/>
            <a:ext cx="420624" cy="420624"/>
          </a:xfrm>
          <a:prstGeom prst="ellipse">
            <a:avLst/>
          </a:prstGeom>
          <a:noFill/>
          <a:ln w="15240">
            <a:solidFill>
              <a:srgbClr val="3F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4752" y="457200"/>
            <a:ext cx="9923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F5F8"/>
                </a:solidFill>
                <a:latin typeface="Calibri"/>
              </a:rPr>
              <a:t>없는 것 — 먼저 밝힙니다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0704"/>
            <a:ext cx="10545775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7A8"/>
                </a:solidFill>
                <a:latin typeface="Calibri"/>
              </a:rPr>
              <a:t>밋업에서 드러날 것을 제안서에서 먼저 말하는 편이 서로의 시간을 아낍니다.
earthus 는 서비스 화면에서도 같은 원칙을 씁니다.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0545775" cy="566928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" y="2112263"/>
            <a:ext cx="100584" cy="100584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89888" y="2020824"/>
            <a:ext cx="97228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F2F5F8"/>
                </a:solidFill>
                <a:latin typeface="Calibri"/>
              </a:rPr>
              <a:t>학습된 AI 모델이 없습니다</a:t>
            </a:r>
            <a:r>
              <a:rPr sz="1050">
                <a:solidFill>
                  <a:srgbClr val="8A97A8"/>
                </a:solidFill>
                <a:latin typeface="Calibri"/>
              </a:rPr>
              <a:t>   코드 전수 확인 결과 TensorFlow·PyTorch·scikit-learn 사용 0건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51176"/>
            <a:ext cx="10545775" cy="566928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" y="2788920"/>
            <a:ext cx="100584" cy="100584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89888" y="2697480"/>
            <a:ext cx="97228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F2F5F8"/>
                </a:solidFill>
                <a:latin typeface="Calibri"/>
              </a:rPr>
              <a:t>자체 위성·레이더가 없습니다</a:t>
            </a:r>
            <a:r>
              <a:rPr sz="1050">
                <a:solidFill>
                  <a:srgbClr val="8A97A8"/>
                </a:solidFill>
                <a:latin typeface="Calibri"/>
              </a:rPr>
              <a:t>   공개 자료를 받아 처리합니다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27832"/>
            <a:ext cx="10545775" cy="566928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3465576"/>
            <a:ext cx="100584" cy="100584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89888" y="3374136"/>
            <a:ext cx="97228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F2F5F8"/>
                </a:solidFill>
                <a:latin typeface="Calibri"/>
              </a:rPr>
              <a:t>전력·발전 도메인 지식이 없습니다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04488"/>
            <a:ext cx="10545775" cy="566928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4142232"/>
            <a:ext cx="100584" cy="100584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89888" y="4050792"/>
            <a:ext cx="97228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F2F5F8"/>
                </a:solidFill>
                <a:latin typeface="Calibri"/>
              </a:rPr>
              <a:t>예보를 직접 생산하지 않습니다</a:t>
            </a:r>
            <a:r>
              <a:rPr sz="1050">
                <a:solidFill>
                  <a:srgbClr val="8A97A8"/>
                </a:solidFill>
                <a:latin typeface="Calibri"/>
              </a:rPr>
              <a:t>   기관 예보를 모으고, 맞았는지 검증합니다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2744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FC7C0"/>
                </a:solidFill>
                <a:latin typeface="Calibri"/>
              </a:rPr>
              <a:t>저희가 내놓는 것은 모델이 아니라,
모델을 만들고 채점하고 눈으로 확인하는 바탕입니다.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" y="475488"/>
            <a:ext cx="420624" cy="420624"/>
          </a:xfrm>
          <a:prstGeom prst="ellipse">
            <a:avLst/>
          </a:prstGeom>
          <a:noFill/>
          <a:ln w="15240">
            <a:solidFill>
              <a:srgbClr val="3F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4752" y="457200"/>
            <a:ext cx="9923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F5F8"/>
                </a:solidFill>
                <a:latin typeface="Calibri"/>
              </a:rPr>
              <a:t>SK텔레콤   AI 기반기술 연계 · 빅데이터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0704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2F5F8"/>
                </a:solidFill>
                <a:latin typeface="Calibri"/>
              </a:rPr>
              <a:t>AI 모델은 학습 데이터보다 평가와 설명에서 먼저 막힙니다.
"이게 기존 수치예보보다 정말 나은가?" 에 답하려면
같은 시각·같은 지점의 예보와 실측이 쌍으로 있어야 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0545775" cy="365760"/>
          </a:xfrm>
          <a:prstGeom prst="rect">
            <a:avLst/>
          </a:prstGeom>
          <a:solidFill>
            <a:srgbClr val="17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185415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무엇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0128" y="2185415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지구본 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3488" y="2185415"/>
            <a:ext cx="396209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차트로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68879"/>
            <a:ext cx="10545775" cy="457200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5968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모델 채점판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259689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지점별 오차를 색으로 칠한 지도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596896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모델별·예보시간별 오차 곡선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0540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SKT 모델 vs 수치예보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305409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같은 시각·같은 지점을 나란히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3054096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승패 누적, 조건별 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383279"/>
            <a:ext cx="10545775" cy="457200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35112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오차의 지리적 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351129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해안·산지·도심을 따라 몰리는 모습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3511296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지형·시간대별 분해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96511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C7C0"/>
                </a:solidFill>
                <a:latin typeface="Calibri"/>
              </a:rPr>
              <a:t>표에서 "RMSE 1.8" 은 숫자입니다.
지구 위에서는 "동해안을 따라 붉게 몰려 있다" 가 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" y="475488"/>
            <a:ext cx="420624" cy="420624"/>
          </a:xfrm>
          <a:prstGeom prst="ellipse">
            <a:avLst/>
          </a:prstGeom>
          <a:noFill/>
          <a:ln w="15240">
            <a:solidFill>
              <a:srgbClr val="3F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4752" y="457200"/>
            <a:ext cx="9923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F5F8"/>
                </a:solidFill>
                <a:latin typeface="Calibri"/>
              </a:rPr>
              <a:t>LS ELECTRIC   기후대응 / 신재생에너지 · VPP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0704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2F5F8"/>
                </a:solidFill>
                <a:latin typeface="Calibri"/>
              </a:rPr>
              <a:t>VPP 는 발전량을 예측해 전력시장에 입찰합니다.
예측이 틀리면 정산에서 그대로 손실입니다.
그런데 "내 예보가 어디서 얼마나 틀리는가" 를 아는 사업자는 드뭅니다.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0545775" cy="365760"/>
          </a:xfrm>
          <a:prstGeom prst="rect">
            <a:avLst/>
          </a:prstGeom>
          <a:solidFill>
            <a:srgbClr val="17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185415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무엇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0128" y="2185415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지구본 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3488" y="2185415"/>
            <a:ext cx="396209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차트로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68879"/>
            <a:ext cx="10545775" cy="457200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5968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발전소 지도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259689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발전소 위치에 예보 신뢰도를 색으로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596896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사이트별 오차 이력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0540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오늘의 위험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305409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오차가 커질 조건이 다가오는 모습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3054096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시간대별 신뢰구간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383279"/>
            <a:ext cx="10545775" cy="457200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35112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모델 가중치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351129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지역별로 어느 모델을 믿어야 하는지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3511296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GFS vs ECMWF 조건별 승률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968495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일사·바람 흐름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968495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구름이 발전소 위를 지나가는 영상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3968495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발전량 예측 대비 실적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53712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C7C0"/>
                </a:solidFill>
                <a:latin typeface="Calibri"/>
              </a:rPr>
              <a:t>입찰 담당자는 지금 예보 숫자 하나를 봅니다.
이 화면은 거기에 "이 지점 이 시간대에는 평소 이만큼 틀린다" 를 붙여 줍니다.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" y="475488"/>
            <a:ext cx="420624" cy="420624"/>
          </a:xfrm>
          <a:prstGeom prst="ellipse">
            <a:avLst/>
          </a:prstGeom>
          <a:noFill/>
          <a:ln w="15240">
            <a:solidFill>
              <a:srgbClr val="3F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4752" y="457200"/>
            <a:ext cx="9923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F5F8"/>
                </a:solidFill>
                <a:latin typeface="Calibri"/>
              </a:rPr>
              <a:t>두산에너빌리티   해상풍력 · AI/빅데이터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0704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2F5F8"/>
                </a:solidFill>
                <a:latin typeface="Calibri"/>
              </a:rPr>
              <a:t>해상풍력은 O&amp;M 출항 판단이 곧 비용입니다.
파고·풍속 예보가 틀리면 배를 띄웠다 돌아오거나,
띄울 수 있었던 날을 놓칩니다.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0545775" cy="365760"/>
          </a:xfrm>
          <a:prstGeom prst="rect">
            <a:avLst/>
          </a:prstGeom>
          <a:solidFill>
            <a:srgbClr val="17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185415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무엇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0128" y="2185415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지구본 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3488" y="2185415"/>
            <a:ext cx="396209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차트로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68879"/>
            <a:ext cx="10545775" cy="457200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5968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출항 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259689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단지 주변 파고·풍속을 시간축으로 재생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596896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5일 중 나갈 수 있는 시간대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0540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태풍 판단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305409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기관 4곳 경로를 겹쳐서 그대로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3054096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기관별 강도·도달시각 차이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383279"/>
            <a:ext cx="10545775" cy="457200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35112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예보 신뢰도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351129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해상 지점별 과거 오차폭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3511296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파고 예보가 언제 빗나가는가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968495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실측 대조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968495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인근 부이 실측을 예보 위에 겹침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3968495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예보-실측 편차 이력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553712"/>
            <a:ext cx="10545775" cy="507492"/>
          </a:xfrm>
          <a:prstGeom prst="rect">
            <a:avLst/>
          </a:prstGeom>
          <a:solidFill>
            <a:srgbClr val="1E1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" y="4553712"/>
            <a:ext cx="45720" cy="507492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" y="4690872"/>
            <a:ext cx="10088575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C79A"/>
                </a:solidFill>
                <a:latin typeface="Calibri"/>
              </a:rPr>
              <a:t>⚠  태풍 경로는 하나로 합치지 않습니다. 기관이 갈릴 때가 정확히 판단이 어려운 때이고, 그 갈림 자체가 정보이기 때문입니다. 이 화면은 이미 서비스에 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" y="475488"/>
            <a:ext cx="420624" cy="420624"/>
          </a:xfrm>
          <a:prstGeom prst="ellipse">
            <a:avLst/>
          </a:prstGeom>
          <a:noFill/>
          <a:ln w="15240">
            <a:solidFill>
              <a:srgbClr val="3F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4752" y="457200"/>
            <a:ext cx="9923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F5F8"/>
                </a:solidFill>
                <a:latin typeface="Calibri"/>
              </a:rPr>
              <a:t>지구를 쓰면 여기서 더 갈 수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0704"/>
            <a:ext cx="1054577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FC7C0"/>
                </a:solidFill>
                <a:latin typeface="Calibri"/>
              </a:rPr>
              <a:t>표는 값을 보여주고, 지구는 관계를 보여줍니다.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4663440" cy="566928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773936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7A8"/>
                </a:solidFill>
                <a:latin typeface="Calibri"/>
              </a:rPr>
              <a:t>엑셀에서 오차 1.8 은 그냥 1.8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77393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600200"/>
            <a:ext cx="5196535" cy="566928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1773936"/>
            <a:ext cx="47850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2F5F8"/>
                </a:solidFill>
                <a:latin typeface="Calibri"/>
              </a:rPr>
              <a:t>지구 위에서는 "산맥을 넘는 순간 커진다"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295144"/>
            <a:ext cx="4663440" cy="566928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2468879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7A8"/>
                </a:solidFill>
                <a:latin typeface="Calibri"/>
              </a:rPr>
              <a:t>발전소 200곳의 실적표는 200줄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468879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295144"/>
            <a:ext cx="5196535" cy="566928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2468879"/>
            <a:ext cx="47850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2F5F8"/>
                </a:solidFill>
                <a:latin typeface="Calibri"/>
              </a:rPr>
              <a:t>지구 위에서는 "이 구름대가 지나간 곳만 떨어졌다"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990087"/>
            <a:ext cx="4663440" cy="566928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3163823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7A8"/>
                </a:solidFill>
                <a:latin typeface="Calibri"/>
              </a:rPr>
              <a:t>태풍 경로 4개는 좌표 목록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163823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990087"/>
            <a:ext cx="5196535" cy="566928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3163823"/>
            <a:ext cx="47850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2F5F8"/>
                </a:solidFill>
                <a:latin typeface="Calibri"/>
              </a:rPr>
              <a:t>지구 위에서는 "어느 시점부터 갈라지는지"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959351"/>
            <a:ext cx="2430703" cy="603504"/>
          </a:xfrm>
          <a:prstGeom prst="rect">
            <a:avLst/>
          </a:prstGeom>
          <a:solidFill>
            <a:srgbClr val="17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151375"/>
            <a:ext cx="243070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FC7C0"/>
                </a:solidFill>
                <a:latin typeface="Calibri"/>
              </a:rPr>
              <a:t>보이게 만든다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1095" y="4151375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7A8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7983" y="3959351"/>
            <a:ext cx="2430703" cy="603504"/>
          </a:xfrm>
          <a:prstGeom prst="rect">
            <a:avLst/>
          </a:prstGeom>
          <a:solidFill>
            <a:srgbClr val="17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27983" y="4151375"/>
            <a:ext cx="243070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FC7C0"/>
                </a:solidFill>
                <a:latin typeface="Calibri"/>
              </a:rPr>
              <a:t>사람이 빨리 판단한다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6119" y="4151375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7A8"/>
                </a:solidFill>
                <a:latin typeface="Calibri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3959351"/>
            <a:ext cx="2430703" cy="603504"/>
          </a:xfrm>
          <a:prstGeom prst="rect">
            <a:avLst/>
          </a:prstGeom>
          <a:solidFill>
            <a:srgbClr val="17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33007" y="4151375"/>
            <a:ext cx="243070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FC7C0"/>
                </a:solidFill>
                <a:latin typeface="Calibri"/>
              </a:rPr>
              <a:t>규칙으로 옮긴다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91143" y="4151375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7A8"/>
                </a:solidFill>
                <a:latin typeface="Calibri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8031" y="3959351"/>
            <a:ext cx="2430703" cy="603504"/>
          </a:xfrm>
          <a:prstGeom prst="rect">
            <a:avLst/>
          </a:prstGeom>
          <a:solidFill>
            <a:srgbClr val="17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38031" y="4151375"/>
            <a:ext cx="243070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9F43"/>
                </a:solidFill>
                <a:latin typeface="Calibri"/>
              </a:rPr>
              <a:t>알고리즘이 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28031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7A8"/>
                </a:solidFill>
                <a:latin typeface="Calibri"/>
              </a:rPr>
              <a:t>저희가 잘하는 것은 첫 칸입니다. 협력사가 잘하는 것은 뒤 칸입니다.
첫 칸이 없으면 뒤 칸은 감으로 시작합니다.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" y="475488"/>
            <a:ext cx="420624" cy="420624"/>
          </a:xfrm>
          <a:prstGeom prst="ellipse">
            <a:avLst/>
          </a:prstGeom>
          <a:noFill/>
          <a:ln w="15240">
            <a:solidFill>
              <a:srgbClr val="3F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4752" y="457200"/>
            <a:ext cx="9923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F5F8"/>
                </a:solidFill>
                <a:latin typeface="Calibri"/>
              </a:rPr>
              <a:t>PoC 제안 — 3개월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10545775" cy="457200"/>
          </a:xfrm>
          <a:prstGeom prst="rect">
            <a:avLst/>
          </a:prstGeom>
          <a:solidFill>
            <a:srgbClr val="17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17957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시기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179576"/>
            <a:ext cx="889985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할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10545775" cy="566928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682495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1개월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682495"/>
            <a:ext cx="889985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대상 지점·자산 확정, 검증 지표 합의 (무엇을 "맞았다"고 볼 것인가)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249424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2개월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249424"/>
            <a:ext cx="889985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해당 지점 아카이브 확장 + 지구본 시연 화면 1차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642616"/>
            <a:ext cx="10545775" cy="566928"/>
          </a:xfrm>
          <a:prstGeom prst="rect">
            <a:avLst/>
          </a:prstGeom>
          <a:solidFill>
            <a:srgbClr val="0E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281635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C7C0"/>
                </a:solidFill>
                <a:latin typeface="Calibri"/>
              </a:rPr>
              <a:t>3개월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816352"/>
            <a:ext cx="889985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5F8"/>
                </a:solidFill>
                <a:latin typeface="Calibri"/>
              </a:rPr>
              <a:t>차트·리포트 완성 + 실제 의사결정 1건에 적용해 결과 보고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447288"/>
            <a:ext cx="10545775" cy="507492"/>
          </a:xfrm>
          <a:prstGeom prst="rect">
            <a:avLst/>
          </a:prstGeom>
          <a:solidFill>
            <a:srgbClr val="1E1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447288"/>
            <a:ext cx="45720" cy="507492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3584448"/>
            <a:ext cx="10088575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C79A"/>
                </a:solidFill>
                <a:latin typeface="Calibri"/>
              </a:rPr>
              <a:t>⚠  3개월 뒤 아카이브는 약 100일치입니다. 계절 하나를 겨우 넘깁니다. 1년 단위 분석이 필요하면 그 시점에 착수하는 것이 맞고, 지금 된다고 말하지 않겠습니다.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" y="475488"/>
            <a:ext cx="420624" cy="420624"/>
          </a:xfrm>
          <a:prstGeom prst="ellipse">
            <a:avLst/>
          </a:prstGeom>
          <a:noFill/>
          <a:ln w="15240">
            <a:solidFill>
              <a:srgbClr val="3F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4752" y="457200"/>
            <a:ext cx="9923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F5F8"/>
                </a:solidFill>
                <a:latin typeface="Calibri"/>
              </a:rPr>
              <a:t>저희가 일하는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0704"/>
            <a:ext cx="10545775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7A8"/>
                </a:solidFill>
                <a:latin typeface="Calibri"/>
              </a:rPr>
              <a:t>협업 상대를 고르실 때 도움이 될 것 같아 적습니다.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0545775" cy="566928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" y="2112263"/>
            <a:ext cx="100584" cy="100584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89888" y="2020824"/>
            <a:ext cx="97228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F2F5F8"/>
                </a:solidFill>
                <a:latin typeface="Calibri"/>
              </a:rPr>
              <a:t>없는 것을 있다고 쓰지 않습니다</a:t>
            </a:r>
            <a:r>
              <a:rPr sz="1050">
                <a:solidFill>
                  <a:srgbClr val="8A97A8"/>
                </a:solidFill>
                <a:latin typeface="Calibri"/>
              </a:rPr>
              <a:t>   화면에도 "항공기·선박 … 지금은 아직 없습니다" 라고 적혀 있습니다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51176"/>
            <a:ext cx="10545775" cy="566928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" y="2788920"/>
            <a:ext cx="100584" cy="100584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89888" y="2697480"/>
            <a:ext cx="97228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F2F5F8"/>
                </a:solidFill>
                <a:latin typeface="Calibri"/>
              </a:rPr>
              <a:t>출처·표본수·기준을 값과 함께 보여줍니다</a:t>
            </a:r>
            <a:r>
              <a:rPr sz="1050">
                <a:solidFill>
                  <a:srgbClr val="8A97A8"/>
                </a:solidFill>
                <a:latin typeface="Calibri"/>
              </a:rPr>
              <a:t>   숫자만 크게 띄우지 않습니다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27832"/>
            <a:ext cx="10545775" cy="566928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3465576"/>
            <a:ext cx="100584" cy="100584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89888" y="3374136"/>
            <a:ext cx="97228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F2F5F8"/>
                </a:solidFill>
                <a:latin typeface="Calibri"/>
              </a:rPr>
              <a:t>예보하지 않습니다</a:t>
            </a:r>
            <a:r>
              <a:rPr sz="1050">
                <a:solidFill>
                  <a:srgbClr val="8A97A8"/>
                </a:solidFill>
                <a:latin typeface="Calibri"/>
              </a:rPr>
              <a:t>   기관 예보를 옮기고, 맞았는지 확인해 드립니다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04488"/>
            <a:ext cx="10545775" cy="566928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4142232"/>
            <a:ext cx="100584" cy="100584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89888" y="4050792"/>
            <a:ext cx="9722815" cy="219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 dirty="0" err="1">
                <a:solidFill>
                  <a:srgbClr val="F2F5F8"/>
                </a:solidFill>
                <a:latin typeface="Calibri"/>
              </a:rPr>
              <a:t>라이선스가</a:t>
            </a:r>
            <a:r>
              <a:rPr sz="1200" b="1" dirty="0">
                <a:solidFill>
                  <a:srgbClr val="F2F5F8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2F5F8"/>
                </a:solidFill>
                <a:latin typeface="Calibri"/>
              </a:rPr>
              <a:t>확인되지</a:t>
            </a:r>
            <a:r>
              <a:rPr sz="1200" b="1" dirty="0">
                <a:solidFill>
                  <a:srgbClr val="F2F5F8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2F5F8"/>
                </a:solidFill>
                <a:latin typeface="Calibri"/>
              </a:rPr>
              <a:t>않은</a:t>
            </a:r>
            <a:r>
              <a:rPr sz="1200" b="1" dirty="0">
                <a:solidFill>
                  <a:srgbClr val="F2F5F8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2F5F8"/>
                </a:solidFill>
                <a:latin typeface="Calibri"/>
              </a:rPr>
              <a:t>자료는</a:t>
            </a:r>
            <a:r>
              <a:rPr sz="1200" b="1" dirty="0">
                <a:solidFill>
                  <a:srgbClr val="F2F5F8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2F5F8"/>
                </a:solidFill>
                <a:latin typeface="Calibri"/>
              </a:rPr>
              <a:t>쓰지</a:t>
            </a:r>
            <a:r>
              <a:rPr sz="1200" b="1" dirty="0">
                <a:solidFill>
                  <a:srgbClr val="F2F5F8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2F5F8"/>
                </a:solidFill>
                <a:latin typeface="Calibri"/>
              </a:rPr>
              <a:t>않습니다</a:t>
            </a:r>
            <a:endParaRPr sz="1050" dirty="0">
              <a:solidFill>
                <a:srgbClr val="8A97A8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22960" y="4581144"/>
            <a:ext cx="10545775" cy="566928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818888"/>
            <a:ext cx="100584" cy="100584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89888" y="4727448"/>
            <a:ext cx="97228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 dirty="0" err="1">
                <a:solidFill>
                  <a:srgbClr val="F2F5F8"/>
                </a:solidFill>
                <a:latin typeface="Calibri"/>
              </a:rPr>
              <a:t>안전</a:t>
            </a:r>
            <a:r>
              <a:rPr sz="1200" b="1" dirty="0">
                <a:solidFill>
                  <a:srgbClr val="F2F5F8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2F5F8"/>
                </a:solidFill>
                <a:latin typeface="Calibri"/>
              </a:rPr>
              <a:t>정보에는</a:t>
            </a:r>
            <a:r>
              <a:rPr sz="1200" b="1" dirty="0">
                <a:solidFill>
                  <a:srgbClr val="F2F5F8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2F5F8"/>
                </a:solidFill>
                <a:latin typeface="Calibri"/>
              </a:rPr>
              <a:t>값을</a:t>
            </a:r>
            <a:r>
              <a:rPr sz="1200" b="1" dirty="0">
                <a:solidFill>
                  <a:srgbClr val="F2F5F8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2F5F8"/>
                </a:solidFill>
                <a:latin typeface="Calibri"/>
              </a:rPr>
              <a:t>매기지</a:t>
            </a:r>
            <a:r>
              <a:rPr sz="1200" b="1" dirty="0">
                <a:solidFill>
                  <a:srgbClr val="F2F5F8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2F5F8"/>
                </a:solidFill>
                <a:latin typeface="Calibri"/>
              </a:rPr>
              <a:t>않습니다</a:t>
            </a:r>
            <a:r>
              <a:rPr sz="1050" dirty="0">
                <a:solidFill>
                  <a:srgbClr val="8A97A8"/>
                </a:solidFill>
                <a:latin typeface="Calibri"/>
              </a:rPr>
              <a:t>   </a:t>
            </a:r>
            <a:r>
              <a:rPr sz="1050" dirty="0" err="1">
                <a:solidFill>
                  <a:srgbClr val="8A97A8"/>
                </a:solidFill>
                <a:latin typeface="Calibri"/>
              </a:rPr>
              <a:t>태풍·지진·쓰나미는</a:t>
            </a:r>
            <a:r>
              <a:rPr sz="1050" dirty="0">
                <a:solidFill>
                  <a:srgbClr val="8A97A8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8A97A8"/>
                </a:solidFill>
                <a:latin typeface="Calibri"/>
              </a:rPr>
              <a:t>유료화</a:t>
            </a:r>
            <a:r>
              <a:rPr sz="1050" dirty="0">
                <a:solidFill>
                  <a:srgbClr val="8A97A8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8A97A8"/>
                </a:solidFill>
                <a:latin typeface="Calibri"/>
              </a:rPr>
              <a:t>대상에서</a:t>
            </a:r>
            <a:r>
              <a:rPr sz="1050" dirty="0">
                <a:solidFill>
                  <a:srgbClr val="8A97A8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8A97A8"/>
                </a:solidFill>
                <a:latin typeface="Calibri"/>
              </a:rPr>
              <a:t>제외했습니다</a:t>
            </a:r>
            <a:endParaRPr sz="1050" dirty="0">
              <a:solidFill>
                <a:srgbClr val="8A97A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lobe-cyc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0"/>
            <a:ext cx="1020725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475488"/>
            <a:ext cx="420624" cy="420624"/>
          </a:xfrm>
          <a:prstGeom prst="ellipse">
            <a:avLst/>
          </a:prstGeom>
          <a:noFill/>
          <a:ln w="15240">
            <a:solidFill>
              <a:srgbClr val="3F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4752" y="457200"/>
            <a:ext cx="9923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F5F8"/>
                </a:solidFill>
                <a:latin typeface="Calibri"/>
              </a:rPr>
              <a:t>저희가 가려는 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57607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2F5F8"/>
                </a:solidFill>
                <a:latin typeface="Calibri"/>
              </a:rPr>
              <a:t>earthus 는 기상정보만 보여주는 서비스로 남을 생각이 없습니다.
지금 하는 일은 바탕을 쌓는 일입니다. 네 나라 기상청 자료를 매시간 모으고,
사라지는 예보를 박제하고, 그것을 지구 위에 얹어 사람이 볼 수 있게 만드는 일입니다.
그 위에 기상 AI 를 올리는 것을 고민하고 있습니다. 지금은 모델이 없습니다.
다만 순서를 그렇게 잡았습니다 — 먼저 채점표를 만들고, 그 다음에 선수를 키웁니다.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749039"/>
            <a:ext cx="2743200" cy="1371600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" y="39319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산업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4261104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2F5F8"/>
                </a:solidFill>
                <a:latin typeface="Calibri"/>
              </a:rPr>
              <a:t>발전·해운·건설·농업처럼
하늘과 바다에 매출이 걸린 곳에서,
숫자가 아니라 화면으로 판단하게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3749039"/>
            <a:ext cx="2743200" cy="1371600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32504" y="39319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C7C0"/>
                </a:solidFill>
                <a:latin typeface="Calibri"/>
              </a:rPr>
              <a:t>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4261104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2F5F8"/>
                </a:solidFill>
                <a:latin typeface="Calibri"/>
              </a:rPr>
              <a:t>아이가 태풍이 왜 생기는지,
왜 기관마다 다르게 말하는지를
글이 아니라 돌려 보면서 알게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5760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F43"/>
                </a:solidFill>
                <a:latin typeface="Calibri"/>
              </a:rPr>
              <a:t>각 산업과 교육이 함께 쓰는 한국형 3D 지구 서비스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1386</Words>
  <Application>Microsoft Macintosh PowerPoint</Application>
  <PresentationFormat>와이드스크린</PresentationFormat>
  <Paragraphs>218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2026-08-06T05:55:29Z</dcterms:modified>
  <cp:category/>
</cp:coreProperties>
</file>