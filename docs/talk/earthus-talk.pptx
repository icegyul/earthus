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1637303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65960"/>
            <a:ext cx="91741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지구를 믿을 수 있게 만드는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91741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BFD6D8"/>
                </a:solidFill>
                <a:latin typeface="Apple SD Gothic Neo"/>
              </a:rPr>
              <a:t>공공자료로 8일 만에 만든 지구관측 서비스, 그리고 AI와 일한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91741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3AEB2"/>
                </a:solidFill>
                <a:latin typeface="Apple SD Gothic Neo"/>
              </a:rPr>
              <a:t>달루어(dalur) · 김정우</a:t>
            </a:r>
          </a:p>
          <a:p>
            <a:pPr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3AEB2"/>
                </a:solidFill>
                <a:latin typeface="Apple SD Gothic Neo"/>
              </a:rPr>
              <a:t>2026년 8월 4일 정식 서비스 시작</a:t>
            </a:r>
          </a:p>
          <a:p>
            <a:pPr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3AEB2"/>
                </a:solidFill>
                <a:latin typeface="Apple SD Gothic Neo"/>
              </a:rPr>
              <a:t>earthus.net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이 발표에서 다루는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무엇을 만들었나가 아니라
어떻게 판단했나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화면은 뒤에서 보여 드립니다. 앞쪽은 전부 “왜 그렇게 결정했나”입니다.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먼저 숫자부터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8일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첫 커밋부터 오픈까지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613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045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45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커밋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502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34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934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자료 수집 Lambda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31,611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화면 코드 줄 수 (JS)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613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045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45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공개한 업데이트 기록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502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934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34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사람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2026년 7월 28일 첫 커밋 → 8월 4일 정식 오픈. 사람 한 명 + AI 한 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1부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왜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파고 1.2m 인 날, 해변은 닫혀 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여는 장면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41148" cy="9601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029968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A1F"/>
                </a:solidFill>
                <a:latin typeface="Apple SD Gothic Neo"/>
              </a:rPr>
              <a:t>그날 파고는 1.2m 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532888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E76"/>
                </a:solidFill>
                <a:latin typeface="Apple SD Gothic Neo"/>
              </a:rPr>
              <a:t>낮은 값이다. 들어가도 될 것처럼 보인다.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328416"/>
            <a:ext cx="41148" cy="9601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328416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A1F"/>
                </a:solidFill>
                <a:latin typeface="Apple SD Gothic Neo"/>
              </a:rPr>
              <a:t>그런데 해변은 닫혀 있었다.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831336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E76"/>
                </a:solidFill>
                <a:latin typeface="Apple SD Gothic Neo"/>
              </a:rPr>
              <a:t>입수 통제는 파고가 아니라 이안류로 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26864"/>
            <a:ext cx="41148" cy="9601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626864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A1F"/>
                </a:solidFill>
                <a:latin typeface="Apple SD Gothic Neo"/>
              </a:rPr>
              <a:t>그 자료가 화면에 없었다.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129784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E76"/>
                </a:solidFill>
                <a:latin typeface="Apple SD Gothic Neo"/>
              </a:rPr>
              <a:t>값은 있는데 판단의 근거가 없었다.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날씨 앱은 이미 많다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기온·강수·풍속을 보여주는 곳은 넘친다.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그런데 “이 숫자를 믿어도 되나”에 답하는 곳이 없다.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언제 잰 값인지, 어디서 잰 값인지, 몇 개를 잰 값인지 — 안 적혀 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빈 화면이 “안전하다”는 뜻인지 “안 쟀다”는 뜻인지 구분이 안 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0">
                <a:solidFill>
                  <a:srgbClr val="A8530C"/>
                </a:solidFill>
                <a:latin typeface="Apple SD Gothic Neo"/>
              </a:rPr>
              <a:t> 이 마지막 줄이 이 서비스 전체의 출발점이다.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우리가 물은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값이 아니라
값의 근거를 보여줄 수 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이게 되면 만들고, 안 되면 안 만든다 — 그렇게 시작했다.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가진 것과 없는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가진 것 — 한국·일본·영국·미국의 공개 관측 자료, 그리고 8일.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없는 것 — 팀, 자체 관측망, 예보 모델, 광고 예산.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그래서 예보는 하지 않기로 했다. 기관 발표를 출처와 함께 전달한다.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그래서 관측을 만들지 않기로 했다. 남이 잰 값을 정직하게 보여준다.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할 수 없는 일을 먼저 못 박고 시작했다. 그게 나머지를 전부 정해 줬다.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2부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설치 없는 3D 지구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지구 한 장</a:t>
            </a:r>
          </a:p>
        </p:txBody>
      </p:sp>
      <p:pic>
        <p:nvPicPr>
          <p:cNvPr id="4" name="Picture 3" descr="01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423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E76"/>
                </a:solidFill>
                <a:latin typeface="Apple SD Gothic Neo"/>
              </a:rPr>
              <a:t>브라우저에서 바로 열린다. 왼쪽 아래에 늘 출처와 관측 시각이 붙어 있다 — 이 자리는 어느 화면에서도 비지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레이어 — 지구 위에 겹쳐 본다</a:t>
            </a:r>
          </a:p>
        </p:txBody>
      </p:sp>
      <p:pic>
        <p:nvPicPr>
          <p:cNvPr id="4" name="Picture 3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58" y="2079220"/>
            <a:ext cx="5286896" cy="2973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91640"/>
            <a:ext cx="4893118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구름·기온·바람·습도·기압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위성 — 천리안2A(한국), 히마와리(일본), 수오미 NPP(미국)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특보·지진·쓰나미·낙뢰·산불·태풍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대기질·조위·해양 관측소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생물 — 바닷새·철새·바다거북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위성 칸의 그림은 실제 그 위성의 사진이다. 아무 동그라미나 넣지 않았다.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생물 자료 세 종 — 전부 실측 건수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19,739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바닷새 관측 기록 (2015–2023)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613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045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45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바닷새 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5020" y="2107691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340" y="2345435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9340" y="2967227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바닷새 조사 정점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철새 이동 기록 (2021–2025)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613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045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45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철새 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5020" y="3744468"/>
            <a:ext cx="339943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9340" y="3982211"/>
            <a:ext cx="285079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8C7F"/>
                </a:solidFill>
                <a:latin typeface="Apple SD Gothic Neo"/>
              </a:rPr>
              <a:t>1,085,606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340" y="4604004"/>
            <a:ext cx="285079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E76"/>
                </a:solidFill>
                <a:latin typeface="Apple SD Gothic Neo"/>
              </a:rPr>
              <a:t>에코뱅크 생물 기록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화면에 나오는 숫자와 여기 숫자는 같은 값이다. 발표용으로 따로 만들지 않았다.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바닷새 — 9년 동안 어떻게 달라졌나</a:t>
            </a:r>
          </a:p>
        </p:txBody>
      </p:sp>
      <p:pic>
        <p:nvPicPr>
          <p:cNvPr id="4" name="Picture 3" descr="04-sea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423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250" b="0">
                <a:solidFill>
                  <a:srgbClr val="A8530C"/>
                </a:solidFill>
                <a:latin typeface="Apple SD Gothic Neo"/>
              </a:rPr>
              <a:t> 맨 위 상자를 먼저 읽어 주세요 — “빈 바다는 새가 없다가 아니라 조사를 안 했다는 뜻입니다.” 이 문장이 이 서비스가 파는 것이다.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철새 — 떠난 곳과 도착한 곳</a:t>
            </a:r>
          </a:p>
        </p:txBody>
      </p:sp>
      <p:pic>
        <p:nvPicPr>
          <p:cNvPr id="4" name="Picture 3" descr="03-mig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423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250" b="0">
                <a:solidFill>
                  <a:srgbClr val="A8530C"/>
                </a:solidFill>
                <a:latin typeface="Apple SD Gothic Neo"/>
              </a:rPr>
              <a:t> “날아간 길이 아닙니다.” 자료에는 두 지점만 있다. 가운데 선은 보기 쉬우라고 그은 것이다. 도착지가 성(省) 단위면 점이 아니라 원으로 그렸다.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태풍 — 네 개의 선을 겹쳐 보여준다</a:t>
            </a:r>
          </a:p>
        </p:txBody>
      </p:sp>
      <p:pic>
        <p:nvPicPr>
          <p:cNvPr id="4" name="Picture 3" descr="08-typh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423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E76"/>
                </a:solidFill>
                <a:latin typeface="Apple SD Gothic Neo"/>
              </a:rPr>
              <a:t>한국 기상청·일본 기상청의 공식 예보, 미국 JTWC 의 관측·진로(GDACS 제공), 유럽중기예보센터 모델 — 세 나라 기상 기관과 모델 하나. 기관이 다르면 선도 따로 그린다, 평균 내지 않는다. 선이 벌어질수록 그만큼 불확실하다는 뜻이고, 그 벌어짐도 정보다.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모든 값에 붙는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출처 — 어느 기관의 어느 자료인가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관측 시각 — 언제 잰 값인가 (예보가 아니라 관측)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표본 수(n) — 몇 개를 세서 나온 값인가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그리고 기준값이 있으면 그 기준을 우리가 정했다는 사실까지 같이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이 네 줄이 없으면 화면에 안 올린다는 게 규칙이었다.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웹으로 만들었다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설치가 없다. 주소만 있으면 열린다.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심사가 없다. 고친 걸 그날 올린다 — 8일 동안 125번 올렸다.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검색과 AI 가 읽을 수 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대신 대가가 있다 — 폰의 발열, 알림, 그리고 결제. 3부와 7부에서 다룬다.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3부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어떻게 판단했나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사례 12개 — 전부 실제로 겪은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74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EB2"/>
                </a:solidFill>
                <a:latin typeface="Apple SD Gothic Neo"/>
              </a:rPr>
              <a:t>각 장은 세 줄입니다. 이렇게 보였다 → 실제로는 이랬다 → 그래서 이렇게 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천리안이 안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일본 히마와리에는 구름이 보이는데 우리 천리안 화면은 비어 있었다. 같은 시각, 15분 차이. 위성 성능이 떨어지는 것처럼 보였다.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채널 문제였다. 히마와리는 가시광, 천리안 쪽은 적외(온도)를 쓰고 있었다. 낮은 구름은 꼭대기가 지표만큼 따뜻해서 적외로는 원리상 안 잡힌다. 실측해 보니 서울 위 구름이 지표보다 5°C도 차지 않았다.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같은 위성의 가시광을 전면으로 넓혔다. 자료를 바꾼 게 아니라 채널을 바꿨다.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3752697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장비 탓으로 보인 것이 설정 탓이었다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8km 와 0.5km 사이가 비어 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위성 화면이 한반도(0.5km)와 전지구(8km) 두 가지뿐이었다. 쓸 만해 보였다.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태풍이 오키나와쯤 있을 때가 정확히 그 빈 구간이었다. 한반도 화면에는 안 들어오고, 전지구 화면에서는 점이다.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동아시아 2km 를 새로 만들어 끼웠다. 빈 구간은 “없는 기능”이 아니라 “제일 필요할 때 안 보이는 것”이었다.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4158691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A1F"/>
                </a:solidFill>
                <a:latin typeface="Apple SD Gothic Neo"/>
              </a:rPr>
              <a:t>필요한 축척은 평상시가 아니라 사고 때 정해진다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2016년에 바닷새가 늘었나?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54844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A1F"/>
                </a:solidFill>
                <a:latin typeface="Apple SD Gothic Neo"/>
              </a:rPr>
              <a:t>연도별 관측 마릿수를 그렸더니 2016년이 유난히 튀었다. 그 해에 새가 많았던 것처럼 보였다.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A1F"/>
                </a:solidFill>
                <a:latin typeface="Apple SD Gothic Neo"/>
              </a:rPr>
              <a:t>조사를 나간 횟수가 해마다 다르다. 2016년 1,035번, 2017년 2,843번. 원값 막대는 새의 수가 아니라 조사 노력을 그린 것이었다.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A1F"/>
                </a:solidFill>
                <a:latin typeface="Apple SD Gothic Neo"/>
              </a:rPr>
              <a:t>조사 횟수로 나눴다. 그랬더니 2016년이 192마리/조사로 9년 중 최고가 맞았다 — 다만 이유가 달랐다. 나눈 값과 조사 횟수를 화면에 같이 적었다.</a:t>
            </a:r>
          </a:p>
        </p:txBody>
      </p:sp>
      <p:pic>
        <p:nvPicPr>
          <p:cNvPr id="6" name="Picture 5" descr="04-sea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564" y="2361506"/>
            <a:ext cx="4770891" cy="26836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833872"/>
            <a:ext cx="4700016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우연히 결론이 같아도 근거가 틀렸으면 틀린 것이다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왜가리가 멸종위기 I급으로 나왔다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왜가리는 논이나 하천에서 흔히 보이는 새다. 그게 I급으로 찍혔다. 자료가 통째로 이상한 줄 알았다.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세어 보니 왜가리 1,961줄 중 등급이 적힌 줄이 딱 1줄(0.05%)이었다. 오타 한 줄이 종 전체를 물들이고 있었다.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“한 줄이라도 있으면 등급”을 버렸다. 하지만 다음 장이 진짜 문제였다.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4835347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A1F"/>
                </a:solidFill>
                <a:latin typeface="Apple SD Gothic Neo"/>
              </a:rPr>
              <a:t>흔한 것이 희귀하게 나오면 자료가 아니라 규칙을 의심한다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다수결로 걸렀더니 진짜가 떨어졌다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“줄 절반 이상에 등급이 있어야 등급으로 인정” — 깔끔해 보이는 규칙이었다.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실제 멸종위기 II급인 세 종이 통째로 떨어졌다. 희귀한 새일수록 관측 줄 수가 적어서 다수결에 불리하다. 규칙이 거꾸로였다.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“2줄 이상 그리고 5% 이상”으로 바꿨다. 그리고 이 임계값은 우리가 정한 것이라, 각 종마다 몇 줄 중 몇 줄이었는지를 화면에 같이 내보낸다.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3888028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우리가 정한 기준은 기준값까지 공개한다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108만 건 중 27만 건이 사라졌다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에코뱅크 자료 1,085,606건을 받았는데 지도에 올라간 건 806,219건. 279,284건(25.7%)이 없어졌다. 우리 코드가 잘못된 줄 알았다.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값을 직접 찍어 봤다. “위치 없음”을 뜻하는 가짜 좌표가 두 가지 있었다. ① 정확히 36.0000N 124.0000E — 서해 한가운데 빈 바다. ② 2⁶⁴ 근처의 거대한 값 — -1(값 없음)을 부호 없는 정수로 잘못 읽은 것.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버린 게 아니라 원래 위치가 없는 자료였다. “버림 103건 / 위치 없음 279,284건”으로 나눠서 화면에 적었다.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2805379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버린 수를 감추지 않는다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우리 경계가 우연히 막아 줬다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①번 가짜 좌표(36.0N 124.0E)는 어차피 화면에 안 나왔다. 문제없어 보였다.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우리 지도 경계가 124.5°E 부터라서 걸러진 것이었다. 실력이 아니라 운이었다. 경계를 조금만 넓혔으면 405건이 서해 한가운데 점으로 찍혔을 것이다.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글자로 맞추지 않고 값으로 걸렀다. 그리고 이런 “운으로 막힌 것”을 찾는 게 점검의 목적이라는 걸 규칙으로 적었다.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3482035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안 터진 것과 안전한 것은 다르다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조사 정점이 72곳이 아니라 37곳이었다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바닷새 자료의 정점 코드를 세니 72곳이 나왔다. 그대로 “72개 정점”이라고 쓸 뻔했다.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`EB-01` 과 `EB01` 이 같은 곳이었다. 기관에서도 표기가 섞여 있었다.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코드를 정규화해서 합쳤다. 37곳이 맞다. 안 합쳤으면 같은 자리에 점이 두 번 찍히고 “72곳”이라는 틀린 숫자가 그대로 나갔을 것이다.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2940710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A1F"/>
                </a:solidFill>
                <a:latin typeface="Apple SD Gothic Neo"/>
              </a:rPr>
              <a:t>세기 전에 같은 것인지부터 본다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백두대간이 1도 옆에 찍혔다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좌표를 변환해 올렸더니 산줄기가 엉뚱한 데 그어졌다. 변환 코드를 의심했다.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좌표계가 EPSG:5186 인데 5174 로 읽고 있었다. 둘은 약 1°, 100km 차이다. 5186 으로 다시 풀었더니 선이 실제 백두대간 위에 정확히 얹혔다.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검증을 “그림이 그럴듯한가”가 아니라 “아는 지형과 겹치는가”로 바꿨다. 백두대간은 답을 아는 자료라 시험지로 쓸 수 있었다.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5782665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정답을 아는 자료를 하나 끼워 두면 변환 오류가 스스로 드러난다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선이 안 보여서, 더 비싼 방법으로 바꿨다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철새 이동선과 도착지 원이 화면에 안 나왔다. 그리는 방식이 틀린 줄 알았다.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화면을 필요할 때만 다시 그리는 설정(requestRenderMode) 때문이었다. 선은 여러 프레임에 걸쳐 만들어지는데 한 번만 그리라고 시켰던 것이다.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550" b="0">
                <a:solidFill>
                  <a:srgbClr val="A8530C"/>
                </a:solidFill>
                <a:latin typeface="Apple SD Gothic Neo"/>
              </a:rPr>
              <a:t> 여기서 한 번 잘못 고쳤다 — 지형에 딱 붙이는 방식으로 바꿨더니 보이긴 했지만 아이폰이 뜨거워졌다. 되돌리고, 원인대로 “잠깐 계속 그리기”로 고쳤다.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4023359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증상이 사라졌다고 원인을 고친 게 아니다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설명 글이 통째로 죽어 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점을 눌러도 설명이 안 떴다. 글을 안 넣은 줄 알고 계속 채워 넣었다.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지도 라이브러리의 설명 상자를 처음부터 꺼 두는 설정이었다. 설명을 아무리 잘 써도 표시될 곳이 없었다. 283개가 그 상태였다.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설명을 우리 방식(눌렀을 때 뜨는 짧은 말풍선)으로 전부 옮겼다.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3617366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A1F"/>
                </a:solidFill>
                <a:latin typeface="Apple SD Gothic Neo"/>
              </a:rPr>
              <a:t>안 보이는 것과 없는 것을 먼저 구분한다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결제 키가 두 번 붙었다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결제창이 “판매하지 않는 상품”이라며 열리지 않았다. 가맹점 설정 문제로 보였다.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오류 주소에 들어 있던 값을 풀어 보니 키가 `test_ck_test_ck_…` 였다. 내가 넣으라고 준 예시가 `test_ck_여기에` 였고, 그 위에 키를 통째로 붙이면서 접두사가 두 번 들어간 것이다. 내 지시가 원인이었다.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예시를 `&lt;키를 그대로 붙여넣기&gt;` 형태로 바꿨다. 그리고 오류 주소를 풀어 보는 걸 첫 수순으로 삼았다 — 답이 이미 거기 있었다.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4700016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사람이 틀리게 만들어 놓고 사람 탓을 하지 않는다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12개를 관통하는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열두 번 중 열두 번,
값을 직접 찍어 봤을 때 원인이 나왔다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추측으로 맞힌 적은 한 번도 없었다.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4부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AI 와 어떻게 일했나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사람 1 + AI 1 로 8일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74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EB2"/>
                </a:solidFill>
                <a:latin typeface="Apple SD Gothic Neo"/>
              </a:rPr>
              <a:t>자랑이 아니라 방법으로 적습니다. 잘된 것과 안 된 것 둘 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전 과정을 Claude Code 와 함께 만들었다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자료 조사, 설계, 코드, 배포, 약관까지 한 창에서 진행했다.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사람이 한 일 — 무엇을 만들지 정하고, 무엇을 확인할지 정하고, 결과를 판정한다.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AI 가 한 일 — 자료 구조 파악, 기관마다 다른 API 껍데기 흡수, 코드 작성, 검증 실행.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8일 · 138 커밋 · 53개 수집 함수 · 31,611줄.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모델을 나눠 썼다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5163159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2011679"/>
            <a:ext cx="454136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8C7F"/>
                </a:solidFill>
                <a:latin typeface="Apple SD Gothic Neo"/>
              </a:rPr>
              <a:t>Fable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2578608"/>
            <a:ext cx="45413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C6E76"/>
                </a:solidFill>
                <a:latin typeface="Apple SD Gothic Neo"/>
              </a:rPr>
              <a:t>초기 기획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3063239"/>
            <a:ext cx="4541367" cy="1600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무엇을 만들 것인가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어떤 자료를 쓸 것인가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화면 구조와 메뉴 얼개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요금제와 공개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4773168"/>
            <a:ext cx="45413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Apple SD Gothic Neo"/>
              </a:rPr>
              <a:t>기획에는 Fable 5 가 적당하다고 판단했다.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1295" y="1737360"/>
            <a:ext cx="5163159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2191" y="2011679"/>
            <a:ext cx="454136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8C7F"/>
                </a:solidFill>
                <a:latin typeface="Apple SD Gothic Neo"/>
              </a:rPr>
              <a:t>Opus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191" y="2578608"/>
            <a:ext cx="45413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C6E76"/>
                </a:solidFill>
                <a:latin typeface="Apple SD Gothic Neo"/>
              </a:rPr>
              <a:t>코딩 · 개발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063239"/>
            <a:ext cx="4541367" cy="1600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실제 코드 작성과 수정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자료 해석과 함정 추적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법·라이선스 검토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>
                <a:solidFill>
                  <a:srgbClr val="0E1A1F"/>
                </a:solidFill>
                <a:latin typeface="Apple SD Gothic Neo"/>
              </a:rPr>
              <a:t>·  배포와 장애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4773168"/>
            <a:ext cx="45413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Apple SD Gothic Neo"/>
              </a:rPr>
              <a:t>판단이 필요한 구간은 Opus 5 로 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0">
                <a:solidFill>
                  <a:srgbClr val="A8530C"/>
                </a:solidFill>
                <a:latin typeface="Apple SD Gothic Neo"/>
              </a:rPr>
              <a:t> 전환은 늘 먼저 알리고 했다. 모르는 사이에 바뀌면 결과를 믿을 수 없다.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왜 기획에 Fable 5 였나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기획 단계에서 필요한 건 정답이 아니라 선택지다.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“이 자료로 뭘 할 수 있나”를 넓게 펴 보는 데 잘 맞았다.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이 단계에서는 코드를 안 쓴다. 틀려도 비용이 문서 한 장이다.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반대로 값을 직접 확인해야 하는 일에는 쓰지 않았다.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왜 코딩·개발에 Opus 5 였나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여기서부터는 틀리면 화면에 그대로 나간다.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3부의 사례 12개는 전부 이 단계에서 나왔다 — 원인을 좁혀 들어가는 일이다.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여러 기관의 API 가 껍데기가 다 다르다. 한 번에 흡수해야 진도가 나간다.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약관·개인정보·라이선스처럼 틀리면 법이 되는 것도 이쪽에 뒀다.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AI 가 잘한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처음 보는 자료의 구조를 빠르게 파악한다 — 필드 이름만 봐도 어떤 함정이 있을지 짚는다.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기관마다 다른 응답 껍데기를 한꺼번에 흡수한다. (어떤 곳은 항목이 하나면 배열이 아니라 그냥 값으로 온다)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같은 함정을 두 번 안 밟게 코드에 “왜 이렇게 했는지”를 남긴다.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밤에 혼자 오래 걸리는 작업을 끝까지 돌린다.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3000" b="1">
                <a:solidFill>
                  <a:srgbClr val="A8530C"/>
                </a:solidFill>
                <a:latin typeface="Apple SD Gothic Neo"/>
              </a:rPr>
              <a:t> AI 가 틀린 것 — 그대로 적는다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원이 안 보이자 원인을 잘못 짚고 더 비싼 방식으로 바꿨다 → 아이폰이 뜨거워졌다. (사례 10)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확인하지 않고 명령을 줬다 → 권한이 없어 실패했다.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붙여넣기 예시를 잘못 줘서 결제 키가 두 번 붙게 만들었다. (사례 12)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로그인이 안 붙는 원인을 세 번 잘못 짚었다. 진짜 원인은 네 번째에 나왔다 — 로그인 준비가 두 번 돌아 인증 클라이언트가 두 개 만들어져 있었다.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0">
                <a:solidFill>
                  <a:srgbClr val="A8530C"/>
                </a:solidFill>
                <a:latin typeface="Apple SD Gothic Neo"/>
              </a:rPr>
              <a:t> 이게 더 중요합니다. 이 목록이 없으면 앞의 자랑도 믿을 수 없습니다.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39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그래서 생긴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값을 찍어 보기 전에
원인을 말하지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3부의 함정 열두 개를 전부 이 방법으로 잡았다.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주석이 곧 인수인계다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“왜 이렇게 했는지”를 코드에 남기면 다음에 같은 자리에서 안 헤맨다.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실제로 “지형에 붙이기 금지”라는 주석이 이미 있었다. 그걸 어겼고, 폰이 뜨거워진 뒤에야 알았다.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되돌린 다음, 왜 금지인지를 한 줄 더 붙여서 다시 적었다.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AI 와 일할수록 주석이 더 중요해진다 — 다음 대화의 AI 는 오늘을 기억하지 못한다.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커밋 메시지를 이력으로 썼다</a:t>
            </a:r>
          </a:p>
        </p:txBody>
      </p:sp>
      <p:pic>
        <p:nvPicPr>
          <p:cNvPr id="4" name="Picture 3" descr="06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58" y="2444980"/>
            <a:ext cx="5286896" cy="2973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91640"/>
            <a:ext cx="4893118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“무엇을 고쳤나”가 아니라 “무엇이 잘못돼 있었나”를 적었다.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예 — “관리자 — 목록이 비어 있으면 아무도 못 들어간다”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예 — “로그인 — auth.init() 이 두 번 돌던 것을 막았다”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이 문장들이 그대로 사용자에게 보이는 업데이트 기록이 됐다. 125건.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고친 내용을 감추지 않는 게 3부의 원칙과 같은 원칙이다.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4부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AI 는 답을 주는 도구가 아니라
가설을 빨리 버리게 해 주는 도구다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사람이 할 일은 “무엇을 확인할 것인가”를 정하는 것이다.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5부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지키는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코드에 박아 둔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① 예보하지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우리는 관측을 전달한다. 예보는 기관이 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기관 발표는 출처와 발표 시각을 붙여서 그대로 전달한다.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“내일 비 올 것 같아요” 같은 문장을 우리가 만들지 않는다.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할 수 있어도 안 한다 — 틀렸을 때 책임질 수 없는 말이다.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② 안전 정보는 언제나 무료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특보 · 지진 · 쓰나미 · 이안류 · 낙뢰.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요금제 항목이 아니라 원칙이라서 코드에 박아 뒀다.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돈을 받는 순간 “돈 낸 사람만 대피한다”가 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2026년 8월 4일 오픈 시점에는 전 기능이 무료다.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③ 모르는 것을 모른다고 적는다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“이안류 관측은 전국 10곳뿐 — 빈 해변은 안전한 게 아니라 자료가 없는 것입니다”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“빈 바다는 새가 없다가 아니라 조사를 안 했다는 뜻입니다”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빈 화면에 아무 말도 안 쓰면 사람은 “괜찮다”로 읽는다.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0">
                <a:solidFill>
                  <a:srgbClr val="A8530C"/>
                </a:solidFill>
                <a:latin typeface="Apple SD Gothic Neo"/>
              </a:rPr>
              <a:t> 알 수 있는데 모른다고 말하는 것이 자료가 없는 것보다 나쁘다.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④ 지어내지 않는다</a:t>
            </a:r>
          </a:p>
        </p:txBody>
      </p:sp>
      <p:pic>
        <p:nvPicPr>
          <p:cNvPr id="4" name="Picture 3" descr="03-mig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58" y="2444980"/>
            <a:ext cx="5286896" cy="2973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91640"/>
            <a:ext cx="4893118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철새 도착지가 성(省) 단위로만 적혀 있으면 점이 아니라 원으로 그린다.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지린성은 남한의 두 배다. 점으로 찍으면 “여기 갔다”는 거짓말이 된다.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원이 클수록 “이 안 어딘가”라는 뜻이고, 가운데에 갔다는 뜻이 아니라고 적었다.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두 지점 사이의 선도 “날아간 길이 아니다”라고 화면에 적었다.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⑤ 버린 것을 밝힌다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에코뱅크 108만 건 중 위치가 없어 못 쓴 279,284건을 화면에 적는다.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정말로 버린 103건도 따로 적는다.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임계값을 우리가 정했으면 그 값과 근거를 같이 내보낸다.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숨기면 당장은 깔끔해 보이지만, 한 번 들키면 나머지 전부를 의심받는다.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6부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파는 것은 자료가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무엇을 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자료가 아니라
“그 자료를 믿어도 되는지”를 판다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같은 공공자료를 쓰는 곳은 많다. 한계까지 적는 곳은 드물다.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브랜드 — EARTHUS</a:t>
            </a:r>
          </a:p>
        </p:txBody>
      </p:sp>
      <p:pic>
        <p:nvPicPr>
          <p:cNvPr id="4" name="Picture 3" descr="brand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5017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E76"/>
                </a:solidFill>
                <a:latin typeface="Apple SD Gothic Neo"/>
              </a:rPr>
              <a:t>Where Earth Becomes One — 지구가 하나 되는 곳. 이 브랜드 이미지는 ChatGPT 로 만들었다.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브랜드 시트 — 4번 칸을 봐 주세요</a:t>
            </a:r>
          </a:p>
        </p:txBody>
      </p:sp>
      <p:pic>
        <p:nvPicPr>
          <p:cNvPr id="4" name="Picture 3" descr="brand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3" y="1691640"/>
            <a:ext cx="7526528" cy="5017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2583" y="6108192"/>
            <a:ext cx="752652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250" b="0">
                <a:solidFill>
                  <a:srgbClr val="A8530C"/>
                </a:solidFill>
                <a:latin typeface="Apple SD Gothic Neo"/>
              </a:rPr>
              <a:t> 오른쪽 「PRODUCT PRINCIPLE」 세 줄이 이 발표의 3부·5부 그대로다 — 출처+시각 · 관측≠예보 · 자료 없음≠사건 없음. 브랜드가 로고와 색이 아니라 「무엇을 하지 않는가」로 적혀 있다. 이 시트는 ChatGPT 로 만들었다 — 어떤 도구로 만들었는지 숨기지 않는다.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릴스 · 쇼츠 (1080×1920) — 확산에 제일 좋다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지구가 실제로 움직이는 것이 그대로 콘텐츠다.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태풍 회전 · 구름 흐름 · 위성이 지구를 훑고 지나가는 장면 · 일식 그림자.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연속 캡처를 이어 붙여 영상으로 만든다. 자막은 짧게 한 줄.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나레이션에 예보를 넣지 않는다 — 화면 원칙과 같은 원칙이다.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X · 스레드 — 카드뉴스와 화면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3부의 이야기가 그대로 소재다.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“왜가리가 멸종위기로 나온 이유” — 오타 한 줄이 종 전체를 물들인 이야기.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“2016년에 새가 늘어난 게 아니라 조사를 덜 나간 것이었다”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“108만 건 중 27만 건이 사라진 이유” — 가짜 좌표 두 가지.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설명이 곧 신뢰다. 기능 자랑보다 함정 이야기가 더 멀리 간다.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3000" b="1">
                <a:solidFill>
                  <a:srgbClr val="A8530C"/>
                </a:solidFill>
                <a:latin typeface="Apple SD Gothic Neo"/>
              </a:rPr>
              <a:t> 자동으로 게시하지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화면 오류는 고치면 되지만 게시물은 이미 퍼진 뒤다.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실제로 하루 만에 경도 부호 오류와 파고 축소 오류를 찾았다. 그날 자동 게시가 켜져 있었으면 둘 다 나갔을 것이다.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초안까지는 자동으로 만들고, 올리는 손은 사람이 댄다.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첫 30일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주 3회 릴스 — 태풍·구름·위성 궤도 중 그날 실제로 볼 만한 것.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주 2회 카드뉴스 — 3부 사례를 하나씩 푼다.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특보가 뜬 날은 그날의 화면을 그대로 올린다. 만들 필요가 없다.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9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900" b="0">
                <a:solidFill>
                  <a:srgbClr val="A8530C"/>
                </a:solidFill>
                <a:latin typeface="Apple SD Gothic Neo"/>
              </a:rPr>
              <a:t> 유입보다 “한 번 본 사람이 다시 오는가”를 본다.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7부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지금 어디까지 왔나</a:t>
            </a:r>
          </a:p>
        </p:txBody>
      </p:sp>
      <p:pic>
        <p:nvPicPr>
          <p:cNvPr id="4" name="Picture 3" descr="07-sub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58" y="2444980"/>
            <a:ext cx="5286896" cy="2973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91640"/>
            <a:ext cx="4893118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2026년 8월 4일 정식 오픈. 전 기능 무료.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유료는 통신판매업 신고를 마친 뒤에 연다 — 신고 전에는 코드에서 잠가 뒀다.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</a:t>
            </a:r>
            <a:r>
              <a:rPr sz="16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600" b="0">
                <a:solidFill>
                  <a:srgbClr val="A8530C"/>
                </a:solidFill>
                <a:latin typeface="Apple SD Gothic Neo"/>
              </a:rPr>
              <a:t> 비행기·배 실시간은 공공자료가 아니라 사와야 한다. 있는 척하지 않는다.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0E1A1F"/>
                </a:solidFill>
                <a:latin typeface="Apple SD Gothic Neo"/>
              </a:rPr>
              <a:t>·  다음 — 에코뱅크 생물 화면, 야간 저층운, 공공자료 라이선스 전수 점검.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닫는 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9539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1A1F"/>
                </a:solidFill>
                <a:latin typeface="Apple SD Gothic Neo"/>
              </a:rPr>
              <a:t>값을 보여주는 앱은 많다.
우리는 그 값의 한계까지 보여준다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77256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Apple SD Gothic Neo"/>
              </a:rPr>
              <a:t>earthus.net · 달루어(dalur) · 김정우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C7F"/>
                </a:solidFill>
                <a:latin typeface="Apple SD Gothic Neo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7228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pple SD Gothic Neo"/>
              </a:rPr>
              <a:t>시연과 여분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FD6D8"/>
                </a:solidFill>
                <a:latin typeface="Apple SD Gothic Neo"/>
              </a:rPr>
              <a:t>시간이 남으면 / 질문이 나오면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888D"/>
                </a:solidFill>
                <a:latin typeface="Apple SD Gothic Neo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시연 (4분)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① 지구를 돌린다 → 내 위치 → 오늘 날씨 한 문장 (매일, 위치마다 바뀐다)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② 레이어를 켠다 → 천리안 · 히마와리 · 수오미를 나란히 비교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③ 취미 → 철새 → 선을 눌러 “고방오리 · 부산 을숙도 → 러시아 프리모르스키”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④ 왼쪽 아래 출처 표시 — 어느 화면에도 출처와 시각이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41264"/>
            <a:ext cx="10637215" cy="10972"/>
          </a:xfrm>
          <a:prstGeom prst="rect">
            <a:avLst/>
          </a:prstGeom>
          <a:solidFill>
            <a:srgbClr val="D9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0">
                <a:solidFill>
                  <a:srgbClr val="A8530C"/>
                </a:solidFill>
                <a:latin typeface="Apple SD Gothic Neo"/>
              </a:rPr>
              <a:t> 인터넷이 안 되는 자리면 미리 찍은 영상으로 대체할 것.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[여분] 아이폰에서 두 손가락 확대가 안 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아이폰에서 확대·축소를 하고 나면 그 뒤로 잘 안 됐다. 두 손가락으로 벌려도 한 손으로 미는 것처럼 동작했다.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지구가 놓인 칸에 터치 처리 규칙이 없어서 사파리가 자기 방식대로 제스처를 가로챘다. 사파리는 “확대 금지” 설정을 무시한다.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지구 칸에만 터치 규칙을 명시했다. 데스크톱에서는 재현되지 않던 문제라, PD 가 실제 아이폰에서 겪은 말이 유일한 단서였다.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4564684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내 기기에서 안 나는 버그가 없는 버그는 아니다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C7F"/>
                </a:solidFill>
                <a:latin typeface="Apple SD Gothic Neo"/>
              </a:rPr>
              <a:t>사례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[여분] 로그인이 안 붙었다 — 네 번째에 나온 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5433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이렇게 보였다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로그인을 해도 계속 로그인하라고 떴다. 브라우저를 껐다 켜도 같았다.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실제로는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원인을 세 번 잘못 짚었다. ①설정 누락(실제로는 있었다) ②권한 함수 오류(진짜였지만 안 쓰이는 코드였다) ③주소 형식. 진짜 원인은 로그인 준비가 두 번 돌아 인증 클라이언트가 두 개 만들어진 것이었다 — 둘이 같은 저장소를 두고 서로 덮어썼다.</a:t>
            </a:r>
          </a:p>
          <a:p>
            <a:pPr>
              <a:lnSpc>
                <a:spcPct val="110000"/>
              </a:lnSpc>
              <a:spcBef>
                <a:spcPts val="150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Apple SD Gothic Neo"/>
              </a:rPr>
              <a:t>그래서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E1A1F"/>
                </a:solidFill>
                <a:latin typeface="Apple SD Gothic Neo"/>
              </a:rPr>
              <a:t>여러 번 불러도 한 번만 돌게 막았다. 그리고 로그인에 성공해도 로그인 창을 닫아 주는 코드가 아예 없었던 것까지 같이 고쳤다.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33872"/>
            <a:ext cx="3752697" cy="566928"/>
          </a:xfrm>
          <a:prstGeom prst="roundRect">
            <a:avLst>
              <a:gd name="adj" fmla="val 6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9710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530C"/>
                </a:solidFill>
                <a:latin typeface="Apple SD Gothic Neo"/>
              </a:rPr>
              <a:t>⚠️</a:t>
            </a:r>
            <a:r>
              <a:rPr sz="1300" b="1">
                <a:solidFill>
                  <a:srgbClr val="A8530C"/>
                </a:solidFill>
                <a:latin typeface="Apple SD Gothic Neo"/>
              </a:rPr>
              <a:t> 증상이 하나여도 원인은 셋일 수 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E76"/>
                </a:solidFill>
                <a:latin typeface="Apple SD Gothic Neo"/>
              </a:rPr>
              <a:t>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1A1F"/>
                </a:solidFill>
                <a:latin typeface="Apple SD Gothic Neo"/>
              </a:rPr>
              <a:t>예상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88575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“공공자료면 누구나 쓸 수 있는데 뭐가 다른가” → 3부(18–31장)와 5부(43–48장)가 그 답입니다.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“AI 가 다 만들었나” → 무엇을 확인할지는 사람이 정했습니다. 4부(32–42장) — 모델 구분은 34장, 결론은 42장.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“8일이면 대충 만든 것 아닌가” → 함정 12개를 그 8일 안에 잡았습니다. 사례 12개는 19장부터 30장까지.</a:t>
            </a:r>
          </a:p>
          <a:p>
            <a:pPr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0E1A1F"/>
                </a:solidFill>
                <a:latin typeface="Apple SD Gothic Neo"/>
              </a:rPr>
              <a:t>·  “수익은?” → 안전 정보는 계속 무료입니다(45장). 유료는 신고 후에 엽니다(58장).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